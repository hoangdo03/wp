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8" r:id="rId2"/>
    <p:sldId id="257" r:id="rId3"/>
    <p:sldId id="262" r:id="rId4"/>
    <p:sldId id="256" r:id="rId5"/>
    <p:sldId id="259" r:id="rId6"/>
    <p:sldId id="263" r:id="rId7"/>
    <p:sldId id="260" r:id="rId8"/>
    <p:sldId id="265" r:id="rId9"/>
    <p:sldId id="261"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ÔNG TIN CHUNG" id="{F50AE228-25FE-804C-82E0-610DF5B27F19}">
          <p14:sldIdLst>
            <p14:sldId id="258"/>
            <p14:sldId id="257"/>
            <p14:sldId id="262"/>
            <p14:sldId id="256"/>
          </p14:sldIdLst>
        </p14:section>
        <p14:section name="TRANG CHỦ" id="{B1B1C1A1-F2E6-E849-934F-4209DA686247}">
          <p14:sldIdLst>
            <p14:sldId id="259"/>
            <p14:sldId id="263"/>
            <p14:sldId id="260"/>
            <p14:sldId id="265"/>
            <p14:sldId id="261"/>
          </p14:sldIdLst>
        </p14:section>
        <p14:section name="TRANG CON | SERVICES" id="{298620EF-417A-BA48-BD91-330AF1731B4E}">
          <p14:sldIdLst>
            <p14:sldId id="266"/>
            <p14:sldId id="267"/>
            <p14:sldId id="268"/>
            <p14:sldId id="269"/>
            <p14:sldId id="270"/>
            <p14:sldId id="271"/>
            <p14:sldId id="272"/>
            <p14:sldId id="273"/>
            <p14:sldId id="274"/>
          </p14:sldIdLst>
        </p14:section>
        <p14:section name="TRANG CON | CAREER" id="{77737F88-506F-E94C-85FE-4F9AAC8AA114}">
          <p14:sldIdLst>
            <p14:sldId id="275"/>
          </p14:sldIdLst>
        </p14:section>
        <p14:section name="TRANG CON | PODCAST" id="{951AC3ED-0B2E-9240-B708-1F7ADB2209AA}">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09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3B859E-A9CD-4846-AB1E-A570D58EA713}" v="1" dt="2026-01-19T04:21:00.8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84932"/>
  </p:normalViewPr>
  <p:slideViewPr>
    <p:cSldViewPr snapToGrid="0">
      <p:cViewPr varScale="1">
        <p:scale>
          <a:sx n="89" d="100"/>
          <a:sy n="89" d="100"/>
        </p:scale>
        <p:origin x="1464" y="4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uong VI B2event" userId="94fb3f9b-5733-4879-bdc2-63b9eae90727" providerId="ADAL" clId="{A812ADD5-E5D8-55A0-AB70-680DEA7741D4}"/>
    <pc:docChg chg="modSld">
      <pc:chgData name="Tuong VI B2event" userId="94fb3f9b-5733-4879-bdc2-63b9eae90727" providerId="ADAL" clId="{A812ADD5-E5D8-55A0-AB70-680DEA7741D4}" dt="2026-01-19T04:21:46.106" v="1" actId="1076"/>
      <pc:docMkLst>
        <pc:docMk/>
      </pc:docMkLst>
      <pc:sldChg chg="modSp mod">
        <pc:chgData name="Tuong VI B2event" userId="94fb3f9b-5733-4879-bdc2-63b9eae90727" providerId="ADAL" clId="{A812ADD5-E5D8-55A0-AB70-680DEA7741D4}" dt="2026-01-19T04:21:46.106" v="1" actId="1076"/>
        <pc:sldMkLst>
          <pc:docMk/>
          <pc:sldMk cId="2872267211" sldId="260"/>
        </pc:sldMkLst>
        <pc:spChg chg="mod">
          <ac:chgData name="Tuong VI B2event" userId="94fb3f9b-5733-4879-bdc2-63b9eae90727" providerId="ADAL" clId="{A812ADD5-E5D8-55A0-AB70-680DEA7741D4}" dt="2026-01-19T04:21:46.106" v="1" actId="1076"/>
          <ac:spMkLst>
            <pc:docMk/>
            <pc:sldMk cId="2872267211" sldId="260"/>
            <ac:spMk id="10" creationId="{8C9E66C8-7ACA-0E25-0258-973D4E59EA1A}"/>
          </ac:spMkLst>
        </pc:spChg>
      </pc:sldChg>
      <pc:sldChg chg="modSp">
        <pc:chgData name="Tuong VI B2event" userId="94fb3f9b-5733-4879-bdc2-63b9eae90727" providerId="ADAL" clId="{A812ADD5-E5D8-55A0-AB70-680DEA7741D4}" dt="2026-01-19T04:21:00.827" v="0" actId="1076"/>
        <pc:sldMkLst>
          <pc:docMk/>
          <pc:sldMk cId="4086270592" sldId="263"/>
        </pc:sldMkLst>
        <pc:picChg chg="mod">
          <ac:chgData name="Tuong VI B2event" userId="94fb3f9b-5733-4879-bdc2-63b9eae90727" providerId="ADAL" clId="{A812ADD5-E5D8-55A0-AB70-680DEA7741D4}" dt="2026-01-19T04:21:00.827" v="0" actId="1076"/>
          <ac:picMkLst>
            <pc:docMk/>
            <pc:sldMk cId="4086270592" sldId="263"/>
            <ac:picMk id="3074" creationId="{60355710-9A62-FCED-E822-2DE37868EAA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4388B8-8D28-CA49-BB8B-8F72D66EC739}" type="datetimeFigureOut">
              <a:rPr lang="en-VN" smtClean="0"/>
              <a:t>19/1/26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0247E7-70BE-B64C-8B57-BD90F1594914}" type="slidenum">
              <a:rPr lang="en-VN" smtClean="0"/>
              <a:t>‹#›</a:t>
            </a:fld>
            <a:endParaRPr lang="en-VN"/>
          </a:p>
        </p:txBody>
      </p:sp>
    </p:spTree>
    <p:extLst>
      <p:ext uri="{BB962C8B-B14F-4D97-AF65-F5344CB8AC3E}">
        <p14:creationId xmlns:p14="http://schemas.microsoft.com/office/powerpoint/2010/main" val="869004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C10247E7-70BE-B64C-8B57-BD90F1594914}" type="slidenum">
              <a:rPr lang="en-VN" smtClean="0"/>
              <a:t>5</a:t>
            </a:fld>
            <a:endParaRPr lang="en-VN"/>
          </a:p>
        </p:txBody>
      </p:sp>
    </p:spTree>
    <p:extLst>
      <p:ext uri="{BB962C8B-B14F-4D97-AF65-F5344CB8AC3E}">
        <p14:creationId xmlns:p14="http://schemas.microsoft.com/office/powerpoint/2010/main" val="1238800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69F6B-E89E-7640-A9F7-AAE2DF56D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1A906-EB44-D743-CF23-C65DAD1A14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6D1CA-0401-B0C1-FFE4-345EF4AA1B1D}"/>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3CB27648-CFF1-EE4E-3C87-5C56AC08D2D4}"/>
              </a:ext>
            </a:extLst>
          </p:cNvPr>
          <p:cNvSpPr>
            <a:spLocks noGrp="1"/>
          </p:cNvSpPr>
          <p:nvPr>
            <p:ph type="sldNum" sz="quarter" idx="5"/>
          </p:nvPr>
        </p:nvSpPr>
        <p:spPr/>
        <p:txBody>
          <a:bodyPr/>
          <a:lstStyle/>
          <a:p>
            <a:fld id="{C10247E7-70BE-B64C-8B57-BD90F1594914}" type="slidenum">
              <a:rPr lang="en-VN" smtClean="0"/>
              <a:t>6</a:t>
            </a:fld>
            <a:endParaRPr lang="en-VN"/>
          </a:p>
        </p:txBody>
      </p:sp>
    </p:spTree>
    <p:extLst>
      <p:ext uri="{BB962C8B-B14F-4D97-AF65-F5344CB8AC3E}">
        <p14:creationId xmlns:p14="http://schemas.microsoft.com/office/powerpoint/2010/main" val="3941612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C10247E7-70BE-B64C-8B57-BD90F1594914}" type="slidenum">
              <a:rPr lang="en-VN" smtClean="0"/>
              <a:t>7</a:t>
            </a:fld>
            <a:endParaRPr lang="en-VN"/>
          </a:p>
        </p:txBody>
      </p:sp>
    </p:spTree>
    <p:extLst>
      <p:ext uri="{BB962C8B-B14F-4D97-AF65-F5344CB8AC3E}">
        <p14:creationId xmlns:p14="http://schemas.microsoft.com/office/powerpoint/2010/main" val="1403885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C10247E7-70BE-B64C-8B57-BD90F1594914}" type="slidenum">
              <a:rPr lang="en-VN" smtClean="0"/>
              <a:t>10</a:t>
            </a:fld>
            <a:endParaRPr lang="en-VN"/>
          </a:p>
        </p:txBody>
      </p:sp>
    </p:spTree>
    <p:extLst>
      <p:ext uri="{BB962C8B-B14F-4D97-AF65-F5344CB8AC3E}">
        <p14:creationId xmlns:p14="http://schemas.microsoft.com/office/powerpoint/2010/main" val="1401560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C10247E7-70BE-B64C-8B57-BD90F1594914}" type="slidenum">
              <a:rPr lang="en-VN" smtClean="0"/>
              <a:t>13</a:t>
            </a:fld>
            <a:endParaRPr lang="en-VN"/>
          </a:p>
        </p:txBody>
      </p:sp>
    </p:spTree>
    <p:extLst>
      <p:ext uri="{BB962C8B-B14F-4D97-AF65-F5344CB8AC3E}">
        <p14:creationId xmlns:p14="http://schemas.microsoft.com/office/powerpoint/2010/main" val="4161708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C10247E7-70BE-B64C-8B57-BD90F1594914}" type="slidenum">
              <a:rPr lang="en-VN" smtClean="0"/>
              <a:t>19</a:t>
            </a:fld>
            <a:endParaRPr lang="en-VN"/>
          </a:p>
        </p:txBody>
      </p:sp>
    </p:spTree>
    <p:extLst>
      <p:ext uri="{BB962C8B-B14F-4D97-AF65-F5344CB8AC3E}">
        <p14:creationId xmlns:p14="http://schemas.microsoft.com/office/powerpoint/2010/main" val="2776820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39025-E71C-701C-E690-8A68CD2D04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41D44061-8690-31C5-1DE6-22ABDC2FA5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6E2EE634-D5F5-5D1A-5974-1BE6CD1361DF}"/>
              </a:ext>
            </a:extLst>
          </p:cNvPr>
          <p:cNvSpPr>
            <a:spLocks noGrp="1"/>
          </p:cNvSpPr>
          <p:nvPr>
            <p:ph type="dt" sz="half" idx="10"/>
          </p:nvPr>
        </p:nvSpPr>
        <p:spPr/>
        <p:txBody>
          <a:bodyPr/>
          <a:lstStyle/>
          <a:p>
            <a:fld id="{745A97CC-2611-EC49-8E68-BB7D3F83C949}" type="datetimeFigureOut">
              <a:rPr lang="en-VN" smtClean="0"/>
              <a:t>19/1/26</a:t>
            </a:fld>
            <a:endParaRPr lang="en-VN"/>
          </a:p>
        </p:txBody>
      </p:sp>
      <p:sp>
        <p:nvSpPr>
          <p:cNvPr id="5" name="Footer Placeholder 4">
            <a:extLst>
              <a:ext uri="{FF2B5EF4-FFF2-40B4-BE49-F238E27FC236}">
                <a16:creationId xmlns:a16="http://schemas.microsoft.com/office/drawing/2014/main" id="{D545317C-999B-9D3E-D34F-40273E0CFEF8}"/>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A146FA15-39EC-F056-7152-A6EEB3C70502}"/>
              </a:ext>
            </a:extLst>
          </p:cNvPr>
          <p:cNvSpPr>
            <a:spLocks noGrp="1"/>
          </p:cNvSpPr>
          <p:nvPr>
            <p:ph type="sldNum" sz="quarter" idx="12"/>
          </p:nvPr>
        </p:nvSpPr>
        <p:spPr/>
        <p:txBody>
          <a:bodyPr/>
          <a:lstStyle/>
          <a:p>
            <a:fld id="{3A4E2324-B130-3446-8808-2A598307E6E1}" type="slidenum">
              <a:rPr lang="en-VN" smtClean="0"/>
              <a:t>‹#›</a:t>
            </a:fld>
            <a:endParaRPr lang="en-VN"/>
          </a:p>
        </p:txBody>
      </p:sp>
    </p:spTree>
    <p:extLst>
      <p:ext uri="{BB962C8B-B14F-4D97-AF65-F5344CB8AC3E}">
        <p14:creationId xmlns:p14="http://schemas.microsoft.com/office/powerpoint/2010/main" val="958579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3451D-474E-758B-CCB6-454CABA844E1}"/>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DAF3F074-80DD-8504-6350-0418E72435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6B9232AE-2A78-163A-63E4-F687D48A47DB}"/>
              </a:ext>
            </a:extLst>
          </p:cNvPr>
          <p:cNvSpPr>
            <a:spLocks noGrp="1"/>
          </p:cNvSpPr>
          <p:nvPr>
            <p:ph type="dt" sz="half" idx="10"/>
          </p:nvPr>
        </p:nvSpPr>
        <p:spPr/>
        <p:txBody>
          <a:bodyPr/>
          <a:lstStyle/>
          <a:p>
            <a:fld id="{745A97CC-2611-EC49-8E68-BB7D3F83C949}" type="datetimeFigureOut">
              <a:rPr lang="en-VN" smtClean="0"/>
              <a:t>19/1/26</a:t>
            </a:fld>
            <a:endParaRPr lang="en-VN"/>
          </a:p>
        </p:txBody>
      </p:sp>
      <p:sp>
        <p:nvSpPr>
          <p:cNvPr id="5" name="Footer Placeholder 4">
            <a:extLst>
              <a:ext uri="{FF2B5EF4-FFF2-40B4-BE49-F238E27FC236}">
                <a16:creationId xmlns:a16="http://schemas.microsoft.com/office/drawing/2014/main" id="{9298876B-6D59-26B0-3174-3574D4E57339}"/>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C2EB568E-0D8D-35EE-8296-4C1A54A9E3D3}"/>
              </a:ext>
            </a:extLst>
          </p:cNvPr>
          <p:cNvSpPr>
            <a:spLocks noGrp="1"/>
          </p:cNvSpPr>
          <p:nvPr>
            <p:ph type="sldNum" sz="quarter" idx="12"/>
          </p:nvPr>
        </p:nvSpPr>
        <p:spPr/>
        <p:txBody>
          <a:bodyPr/>
          <a:lstStyle/>
          <a:p>
            <a:fld id="{3A4E2324-B130-3446-8808-2A598307E6E1}" type="slidenum">
              <a:rPr lang="en-VN" smtClean="0"/>
              <a:t>‹#›</a:t>
            </a:fld>
            <a:endParaRPr lang="en-VN"/>
          </a:p>
        </p:txBody>
      </p:sp>
    </p:spTree>
    <p:extLst>
      <p:ext uri="{BB962C8B-B14F-4D97-AF65-F5344CB8AC3E}">
        <p14:creationId xmlns:p14="http://schemas.microsoft.com/office/powerpoint/2010/main" val="2784981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87587-D283-1FCD-FAE4-5CBB520520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36B70F93-6E50-1F9A-CD9A-B29195D992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89611-491A-57D6-AF09-7AA316843811}"/>
              </a:ext>
            </a:extLst>
          </p:cNvPr>
          <p:cNvSpPr>
            <a:spLocks noGrp="1"/>
          </p:cNvSpPr>
          <p:nvPr>
            <p:ph type="dt" sz="half" idx="10"/>
          </p:nvPr>
        </p:nvSpPr>
        <p:spPr/>
        <p:txBody>
          <a:bodyPr/>
          <a:lstStyle/>
          <a:p>
            <a:fld id="{745A97CC-2611-EC49-8E68-BB7D3F83C949}" type="datetimeFigureOut">
              <a:rPr lang="en-VN" smtClean="0"/>
              <a:t>19/1/26</a:t>
            </a:fld>
            <a:endParaRPr lang="en-VN"/>
          </a:p>
        </p:txBody>
      </p:sp>
      <p:sp>
        <p:nvSpPr>
          <p:cNvPr id="5" name="Footer Placeholder 4">
            <a:extLst>
              <a:ext uri="{FF2B5EF4-FFF2-40B4-BE49-F238E27FC236}">
                <a16:creationId xmlns:a16="http://schemas.microsoft.com/office/drawing/2014/main" id="{4B5A63CB-71A9-23F4-7142-CD79746338C5}"/>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35EC6E10-90C5-B44F-5024-65EA3CC24564}"/>
              </a:ext>
            </a:extLst>
          </p:cNvPr>
          <p:cNvSpPr>
            <a:spLocks noGrp="1"/>
          </p:cNvSpPr>
          <p:nvPr>
            <p:ph type="sldNum" sz="quarter" idx="12"/>
          </p:nvPr>
        </p:nvSpPr>
        <p:spPr/>
        <p:txBody>
          <a:bodyPr/>
          <a:lstStyle/>
          <a:p>
            <a:fld id="{3A4E2324-B130-3446-8808-2A598307E6E1}" type="slidenum">
              <a:rPr lang="en-VN" smtClean="0"/>
              <a:t>‹#›</a:t>
            </a:fld>
            <a:endParaRPr lang="en-VN"/>
          </a:p>
        </p:txBody>
      </p:sp>
    </p:spTree>
    <p:extLst>
      <p:ext uri="{BB962C8B-B14F-4D97-AF65-F5344CB8AC3E}">
        <p14:creationId xmlns:p14="http://schemas.microsoft.com/office/powerpoint/2010/main" val="2615715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BC45A-728C-1266-190A-E7F0CAB38475}"/>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E082BC53-A650-831B-C3C5-9F04AE26E8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312FD7E6-6E16-8258-A3DE-485D35E426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AFD772DA-B65D-18AD-BE63-99ACAFCB0AE6}"/>
              </a:ext>
            </a:extLst>
          </p:cNvPr>
          <p:cNvSpPr>
            <a:spLocks noGrp="1"/>
          </p:cNvSpPr>
          <p:nvPr>
            <p:ph type="dt" sz="half" idx="10"/>
          </p:nvPr>
        </p:nvSpPr>
        <p:spPr/>
        <p:txBody>
          <a:bodyPr/>
          <a:lstStyle/>
          <a:p>
            <a:fld id="{745A97CC-2611-EC49-8E68-BB7D3F83C949}" type="datetimeFigureOut">
              <a:rPr lang="en-VN" smtClean="0"/>
              <a:t>19/1/26</a:t>
            </a:fld>
            <a:endParaRPr lang="en-VN"/>
          </a:p>
        </p:txBody>
      </p:sp>
      <p:sp>
        <p:nvSpPr>
          <p:cNvPr id="6" name="Footer Placeholder 5">
            <a:extLst>
              <a:ext uri="{FF2B5EF4-FFF2-40B4-BE49-F238E27FC236}">
                <a16:creationId xmlns:a16="http://schemas.microsoft.com/office/drawing/2014/main" id="{B018A89F-E6A1-0CD2-2055-EB712FABB50E}"/>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260C4BD9-FDB1-8D7D-2665-A05A1F8D9E16}"/>
              </a:ext>
            </a:extLst>
          </p:cNvPr>
          <p:cNvSpPr>
            <a:spLocks noGrp="1"/>
          </p:cNvSpPr>
          <p:nvPr>
            <p:ph type="sldNum" sz="quarter" idx="12"/>
          </p:nvPr>
        </p:nvSpPr>
        <p:spPr/>
        <p:txBody>
          <a:bodyPr/>
          <a:lstStyle/>
          <a:p>
            <a:fld id="{3A4E2324-B130-3446-8808-2A598307E6E1}" type="slidenum">
              <a:rPr lang="en-VN" smtClean="0"/>
              <a:t>‹#›</a:t>
            </a:fld>
            <a:endParaRPr lang="en-VN"/>
          </a:p>
        </p:txBody>
      </p:sp>
    </p:spTree>
    <p:extLst>
      <p:ext uri="{BB962C8B-B14F-4D97-AF65-F5344CB8AC3E}">
        <p14:creationId xmlns:p14="http://schemas.microsoft.com/office/powerpoint/2010/main" val="2986374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96662-19BB-C61B-ACD1-D65F77601805}"/>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C70B3075-21E4-619E-870E-65B980A2C8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019D62-23A0-A2D7-7005-B54BB49DFA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8B0B6823-102B-B523-B05D-75657F60C3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4158EE-41CA-581A-65FF-3D915D3D5C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CFCC535C-6698-27E5-DB3F-8D913AF89F74}"/>
              </a:ext>
            </a:extLst>
          </p:cNvPr>
          <p:cNvSpPr>
            <a:spLocks noGrp="1"/>
          </p:cNvSpPr>
          <p:nvPr>
            <p:ph type="dt" sz="half" idx="10"/>
          </p:nvPr>
        </p:nvSpPr>
        <p:spPr/>
        <p:txBody>
          <a:bodyPr/>
          <a:lstStyle/>
          <a:p>
            <a:fld id="{745A97CC-2611-EC49-8E68-BB7D3F83C949}" type="datetimeFigureOut">
              <a:rPr lang="en-VN" smtClean="0"/>
              <a:t>19/1/26</a:t>
            </a:fld>
            <a:endParaRPr lang="en-VN"/>
          </a:p>
        </p:txBody>
      </p:sp>
      <p:sp>
        <p:nvSpPr>
          <p:cNvPr id="8" name="Footer Placeholder 7">
            <a:extLst>
              <a:ext uri="{FF2B5EF4-FFF2-40B4-BE49-F238E27FC236}">
                <a16:creationId xmlns:a16="http://schemas.microsoft.com/office/drawing/2014/main" id="{38E94D29-8A3F-7C8A-AEB3-FB5DB39A16A4}"/>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5742DC63-40F6-8432-142A-EDFF0438D16F}"/>
              </a:ext>
            </a:extLst>
          </p:cNvPr>
          <p:cNvSpPr>
            <a:spLocks noGrp="1"/>
          </p:cNvSpPr>
          <p:nvPr>
            <p:ph type="sldNum" sz="quarter" idx="12"/>
          </p:nvPr>
        </p:nvSpPr>
        <p:spPr/>
        <p:txBody>
          <a:bodyPr/>
          <a:lstStyle/>
          <a:p>
            <a:fld id="{3A4E2324-B130-3446-8808-2A598307E6E1}" type="slidenum">
              <a:rPr lang="en-VN" smtClean="0"/>
              <a:t>‹#›</a:t>
            </a:fld>
            <a:endParaRPr lang="en-VN"/>
          </a:p>
        </p:txBody>
      </p:sp>
    </p:spTree>
    <p:extLst>
      <p:ext uri="{BB962C8B-B14F-4D97-AF65-F5344CB8AC3E}">
        <p14:creationId xmlns:p14="http://schemas.microsoft.com/office/powerpoint/2010/main" val="261332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8C25-F38D-D4CE-E50A-39B647AB1689}"/>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E62A709F-11FB-0E90-04B3-85BD7E17B9EC}"/>
              </a:ext>
            </a:extLst>
          </p:cNvPr>
          <p:cNvSpPr>
            <a:spLocks noGrp="1"/>
          </p:cNvSpPr>
          <p:nvPr>
            <p:ph type="dt" sz="half" idx="10"/>
          </p:nvPr>
        </p:nvSpPr>
        <p:spPr/>
        <p:txBody>
          <a:bodyPr/>
          <a:lstStyle/>
          <a:p>
            <a:fld id="{745A97CC-2611-EC49-8E68-BB7D3F83C949}" type="datetimeFigureOut">
              <a:rPr lang="en-VN" smtClean="0"/>
              <a:t>19/1/26</a:t>
            </a:fld>
            <a:endParaRPr lang="en-VN"/>
          </a:p>
        </p:txBody>
      </p:sp>
      <p:sp>
        <p:nvSpPr>
          <p:cNvPr id="4" name="Footer Placeholder 3">
            <a:extLst>
              <a:ext uri="{FF2B5EF4-FFF2-40B4-BE49-F238E27FC236}">
                <a16:creationId xmlns:a16="http://schemas.microsoft.com/office/drawing/2014/main" id="{02A613DE-91DB-DA1B-A01F-756D633B7CD0}"/>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8DC2F4F2-D072-B11D-F1E9-0C19184D70C5}"/>
              </a:ext>
            </a:extLst>
          </p:cNvPr>
          <p:cNvSpPr>
            <a:spLocks noGrp="1"/>
          </p:cNvSpPr>
          <p:nvPr>
            <p:ph type="sldNum" sz="quarter" idx="12"/>
          </p:nvPr>
        </p:nvSpPr>
        <p:spPr/>
        <p:txBody>
          <a:bodyPr/>
          <a:lstStyle/>
          <a:p>
            <a:fld id="{3A4E2324-B130-3446-8808-2A598307E6E1}" type="slidenum">
              <a:rPr lang="en-VN" smtClean="0"/>
              <a:t>‹#›</a:t>
            </a:fld>
            <a:endParaRPr lang="en-VN"/>
          </a:p>
        </p:txBody>
      </p:sp>
    </p:spTree>
    <p:extLst>
      <p:ext uri="{BB962C8B-B14F-4D97-AF65-F5344CB8AC3E}">
        <p14:creationId xmlns:p14="http://schemas.microsoft.com/office/powerpoint/2010/main" val="2493323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1F0A6E-AAD2-D300-D75C-B36F5894DE1B}"/>
              </a:ext>
            </a:extLst>
          </p:cNvPr>
          <p:cNvSpPr>
            <a:spLocks noGrp="1"/>
          </p:cNvSpPr>
          <p:nvPr>
            <p:ph type="dt" sz="half" idx="10"/>
          </p:nvPr>
        </p:nvSpPr>
        <p:spPr/>
        <p:txBody>
          <a:bodyPr/>
          <a:lstStyle/>
          <a:p>
            <a:fld id="{745A97CC-2611-EC49-8E68-BB7D3F83C949}" type="datetimeFigureOut">
              <a:rPr lang="en-VN" smtClean="0"/>
              <a:t>19/1/26</a:t>
            </a:fld>
            <a:endParaRPr lang="en-VN"/>
          </a:p>
        </p:txBody>
      </p:sp>
      <p:sp>
        <p:nvSpPr>
          <p:cNvPr id="3" name="Footer Placeholder 2">
            <a:extLst>
              <a:ext uri="{FF2B5EF4-FFF2-40B4-BE49-F238E27FC236}">
                <a16:creationId xmlns:a16="http://schemas.microsoft.com/office/drawing/2014/main" id="{9B0A7193-9C46-8DA8-15A9-4219FC0BB9F3}"/>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BC84B2D7-A57F-0C94-757D-6CBB425393FA}"/>
              </a:ext>
            </a:extLst>
          </p:cNvPr>
          <p:cNvSpPr>
            <a:spLocks noGrp="1"/>
          </p:cNvSpPr>
          <p:nvPr>
            <p:ph type="sldNum" sz="quarter" idx="12"/>
          </p:nvPr>
        </p:nvSpPr>
        <p:spPr/>
        <p:txBody>
          <a:bodyPr/>
          <a:lstStyle/>
          <a:p>
            <a:fld id="{3A4E2324-B130-3446-8808-2A598307E6E1}" type="slidenum">
              <a:rPr lang="en-VN" smtClean="0"/>
              <a:t>‹#›</a:t>
            </a:fld>
            <a:endParaRPr lang="en-VN"/>
          </a:p>
        </p:txBody>
      </p:sp>
    </p:spTree>
    <p:extLst>
      <p:ext uri="{BB962C8B-B14F-4D97-AF65-F5344CB8AC3E}">
        <p14:creationId xmlns:p14="http://schemas.microsoft.com/office/powerpoint/2010/main" val="2929103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9AE9-3654-D6BA-B55C-2AB7F522F8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8E86499E-B257-5AC2-7801-61A41E68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21929342-6EE4-FA5E-5514-3FAF794D9D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BC7CA0-717E-5E62-FF88-B558946D1ACA}"/>
              </a:ext>
            </a:extLst>
          </p:cNvPr>
          <p:cNvSpPr>
            <a:spLocks noGrp="1"/>
          </p:cNvSpPr>
          <p:nvPr>
            <p:ph type="dt" sz="half" idx="10"/>
          </p:nvPr>
        </p:nvSpPr>
        <p:spPr/>
        <p:txBody>
          <a:bodyPr/>
          <a:lstStyle/>
          <a:p>
            <a:fld id="{745A97CC-2611-EC49-8E68-BB7D3F83C949}" type="datetimeFigureOut">
              <a:rPr lang="en-VN" smtClean="0"/>
              <a:t>19/1/26</a:t>
            </a:fld>
            <a:endParaRPr lang="en-VN"/>
          </a:p>
        </p:txBody>
      </p:sp>
      <p:sp>
        <p:nvSpPr>
          <p:cNvPr id="6" name="Footer Placeholder 5">
            <a:extLst>
              <a:ext uri="{FF2B5EF4-FFF2-40B4-BE49-F238E27FC236}">
                <a16:creationId xmlns:a16="http://schemas.microsoft.com/office/drawing/2014/main" id="{6E4653EE-D69A-237A-63AF-964774CD2D6E}"/>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996F1DC9-C836-01A1-C64A-CA105C5F2E13}"/>
              </a:ext>
            </a:extLst>
          </p:cNvPr>
          <p:cNvSpPr>
            <a:spLocks noGrp="1"/>
          </p:cNvSpPr>
          <p:nvPr>
            <p:ph type="sldNum" sz="quarter" idx="12"/>
          </p:nvPr>
        </p:nvSpPr>
        <p:spPr/>
        <p:txBody>
          <a:bodyPr/>
          <a:lstStyle/>
          <a:p>
            <a:fld id="{3A4E2324-B130-3446-8808-2A598307E6E1}" type="slidenum">
              <a:rPr lang="en-VN" smtClean="0"/>
              <a:t>‹#›</a:t>
            </a:fld>
            <a:endParaRPr lang="en-VN"/>
          </a:p>
        </p:txBody>
      </p:sp>
    </p:spTree>
    <p:extLst>
      <p:ext uri="{BB962C8B-B14F-4D97-AF65-F5344CB8AC3E}">
        <p14:creationId xmlns:p14="http://schemas.microsoft.com/office/powerpoint/2010/main" val="2730716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DDD17-3EFE-22D9-A585-E2C72F9528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23035B41-F762-1CAB-5AC9-A1508FD26E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3C67D070-C72C-B0C8-A4FF-732F9D5BD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680746-8984-FF65-B7AA-4B98E33AB84B}"/>
              </a:ext>
            </a:extLst>
          </p:cNvPr>
          <p:cNvSpPr>
            <a:spLocks noGrp="1"/>
          </p:cNvSpPr>
          <p:nvPr>
            <p:ph type="dt" sz="half" idx="10"/>
          </p:nvPr>
        </p:nvSpPr>
        <p:spPr/>
        <p:txBody>
          <a:bodyPr/>
          <a:lstStyle/>
          <a:p>
            <a:fld id="{745A97CC-2611-EC49-8E68-BB7D3F83C949}" type="datetimeFigureOut">
              <a:rPr lang="en-VN" smtClean="0"/>
              <a:t>19/1/26</a:t>
            </a:fld>
            <a:endParaRPr lang="en-VN"/>
          </a:p>
        </p:txBody>
      </p:sp>
      <p:sp>
        <p:nvSpPr>
          <p:cNvPr id="6" name="Footer Placeholder 5">
            <a:extLst>
              <a:ext uri="{FF2B5EF4-FFF2-40B4-BE49-F238E27FC236}">
                <a16:creationId xmlns:a16="http://schemas.microsoft.com/office/drawing/2014/main" id="{26C7C414-47F0-7D15-EF17-005C51560C7C}"/>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480D08AB-90A2-9512-46EE-677CCCA81EF3}"/>
              </a:ext>
            </a:extLst>
          </p:cNvPr>
          <p:cNvSpPr>
            <a:spLocks noGrp="1"/>
          </p:cNvSpPr>
          <p:nvPr>
            <p:ph type="sldNum" sz="quarter" idx="12"/>
          </p:nvPr>
        </p:nvSpPr>
        <p:spPr/>
        <p:txBody>
          <a:bodyPr/>
          <a:lstStyle/>
          <a:p>
            <a:fld id="{3A4E2324-B130-3446-8808-2A598307E6E1}" type="slidenum">
              <a:rPr lang="en-VN" smtClean="0"/>
              <a:t>‹#›</a:t>
            </a:fld>
            <a:endParaRPr lang="en-VN"/>
          </a:p>
        </p:txBody>
      </p:sp>
    </p:spTree>
    <p:extLst>
      <p:ext uri="{BB962C8B-B14F-4D97-AF65-F5344CB8AC3E}">
        <p14:creationId xmlns:p14="http://schemas.microsoft.com/office/powerpoint/2010/main" val="3727376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5FF2B-FEC4-7B6D-C4D9-77E2F3D2F390}"/>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EE717B76-5E5C-1329-105C-5B65F42B7B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A0DB3B05-CDEB-7C38-2600-EEAC959BEDEA}"/>
              </a:ext>
            </a:extLst>
          </p:cNvPr>
          <p:cNvSpPr>
            <a:spLocks noGrp="1"/>
          </p:cNvSpPr>
          <p:nvPr>
            <p:ph type="dt" sz="half" idx="10"/>
          </p:nvPr>
        </p:nvSpPr>
        <p:spPr/>
        <p:txBody>
          <a:bodyPr/>
          <a:lstStyle/>
          <a:p>
            <a:fld id="{745A97CC-2611-EC49-8E68-BB7D3F83C949}" type="datetimeFigureOut">
              <a:rPr lang="en-VN" smtClean="0"/>
              <a:t>19/1/26</a:t>
            </a:fld>
            <a:endParaRPr lang="en-VN"/>
          </a:p>
        </p:txBody>
      </p:sp>
      <p:sp>
        <p:nvSpPr>
          <p:cNvPr id="5" name="Footer Placeholder 4">
            <a:extLst>
              <a:ext uri="{FF2B5EF4-FFF2-40B4-BE49-F238E27FC236}">
                <a16:creationId xmlns:a16="http://schemas.microsoft.com/office/drawing/2014/main" id="{10D06BB7-3530-B11F-DE64-04C2D70B3B20}"/>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BBD74A5E-6592-D489-BD75-83D0BFB9CE69}"/>
              </a:ext>
            </a:extLst>
          </p:cNvPr>
          <p:cNvSpPr>
            <a:spLocks noGrp="1"/>
          </p:cNvSpPr>
          <p:nvPr>
            <p:ph type="sldNum" sz="quarter" idx="12"/>
          </p:nvPr>
        </p:nvSpPr>
        <p:spPr/>
        <p:txBody>
          <a:bodyPr/>
          <a:lstStyle/>
          <a:p>
            <a:fld id="{3A4E2324-B130-3446-8808-2A598307E6E1}" type="slidenum">
              <a:rPr lang="en-VN" smtClean="0"/>
              <a:t>‹#›</a:t>
            </a:fld>
            <a:endParaRPr lang="en-VN"/>
          </a:p>
        </p:txBody>
      </p:sp>
    </p:spTree>
    <p:extLst>
      <p:ext uri="{BB962C8B-B14F-4D97-AF65-F5344CB8AC3E}">
        <p14:creationId xmlns:p14="http://schemas.microsoft.com/office/powerpoint/2010/main" val="1062232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A465F5-BA35-4392-1288-8B59A74891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2924CFAE-D300-4978-EFB6-B3501F88BD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333390C5-5079-A907-2306-A5476E365889}"/>
              </a:ext>
            </a:extLst>
          </p:cNvPr>
          <p:cNvSpPr>
            <a:spLocks noGrp="1"/>
          </p:cNvSpPr>
          <p:nvPr>
            <p:ph type="dt" sz="half" idx="10"/>
          </p:nvPr>
        </p:nvSpPr>
        <p:spPr/>
        <p:txBody>
          <a:bodyPr/>
          <a:lstStyle/>
          <a:p>
            <a:fld id="{745A97CC-2611-EC49-8E68-BB7D3F83C949}" type="datetimeFigureOut">
              <a:rPr lang="en-VN" smtClean="0"/>
              <a:t>19/1/26</a:t>
            </a:fld>
            <a:endParaRPr lang="en-VN"/>
          </a:p>
        </p:txBody>
      </p:sp>
      <p:sp>
        <p:nvSpPr>
          <p:cNvPr id="5" name="Footer Placeholder 4">
            <a:extLst>
              <a:ext uri="{FF2B5EF4-FFF2-40B4-BE49-F238E27FC236}">
                <a16:creationId xmlns:a16="http://schemas.microsoft.com/office/drawing/2014/main" id="{BD31869C-8ACD-1884-06AA-69A16F7C395B}"/>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46F09205-0215-9F93-B420-2A38B083F8C3}"/>
              </a:ext>
            </a:extLst>
          </p:cNvPr>
          <p:cNvSpPr>
            <a:spLocks noGrp="1"/>
          </p:cNvSpPr>
          <p:nvPr>
            <p:ph type="sldNum" sz="quarter" idx="12"/>
          </p:nvPr>
        </p:nvSpPr>
        <p:spPr/>
        <p:txBody>
          <a:bodyPr/>
          <a:lstStyle/>
          <a:p>
            <a:fld id="{3A4E2324-B130-3446-8808-2A598307E6E1}" type="slidenum">
              <a:rPr lang="en-VN" smtClean="0"/>
              <a:t>‹#›</a:t>
            </a:fld>
            <a:endParaRPr lang="en-VN"/>
          </a:p>
        </p:txBody>
      </p:sp>
    </p:spTree>
    <p:extLst>
      <p:ext uri="{BB962C8B-B14F-4D97-AF65-F5344CB8AC3E}">
        <p14:creationId xmlns:p14="http://schemas.microsoft.com/office/powerpoint/2010/main" val="2854141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6F27A0-D697-580E-6BC3-293ADEA5B8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A16E99EF-8BD9-3905-E856-6026C76F31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99CD6202-E574-7529-7D63-183159DD07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5A97CC-2611-EC49-8E68-BB7D3F83C949}" type="datetimeFigureOut">
              <a:rPr lang="en-VN" smtClean="0"/>
              <a:t>19/1/26</a:t>
            </a:fld>
            <a:endParaRPr lang="en-VN"/>
          </a:p>
        </p:txBody>
      </p:sp>
      <p:sp>
        <p:nvSpPr>
          <p:cNvPr id="5" name="Footer Placeholder 4">
            <a:extLst>
              <a:ext uri="{FF2B5EF4-FFF2-40B4-BE49-F238E27FC236}">
                <a16:creationId xmlns:a16="http://schemas.microsoft.com/office/drawing/2014/main" id="{BAF1CAD8-4E2E-71B3-76D6-2588C7AA09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E5F952A3-1F1E-8DDE-FEF7-5B81DF5E8E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4E2324-B130-3446-8808-2A598307E6E1}" type="slidenum">
              <a:rPr lang="en-VN" smtClean="0"/>
              <a:t>‹#›</a:t>
            </a:fld>
            <a:endParaRPr lang="en-VN"/>
          </a:p>
        </p:txBody>
      </p:sp>
    </p:spTree>
    <p:extLst>
      <p:ext uri="{BB962C8B-B14F-4D97-AF65-F5344CB8AC3E}">
        <p14:creationId xmlns:p14="http://schemas.microsoft.com/office/powerpoint/2010/main" val="901967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0034D35-3FD1-B8DC-AAB1-763456CB52F1}"/>
              </a:ext>
            </a:extLst>
          </p:cNvPr>
          <p:cNvSpPr txBox="1"/>
          <p:nvPr/>
        </p:nvSpPr>
        <p:spPr>
          <a:xfrm>
            <a:off x="1743205" y="2782669"/>
            <a:ext cx="8705589" cy="1015663"/>
          </a:xfrm>
          <a:prstGeom prst="rect">
            <a:avLst/>
          </a:prstGeom>
          <a:noFill/>
        </p:spPr>
        <p:txBody>
          <a:bodyPr wrap="square" rtlCol="0">
            <a:spAutoFit/>
          </a:bodyPr>
          <a:lstStyle/>
          <a:p>
            <a:pPr algn="ctr"/>
            <a:r>
              <a:rPr lang="en-VN" sz="6000" dirty="0"/>
              <a:t>BRIEF THIẾT KẾ WEBSITE</a:t>
            </a:r>
          </a:p>
        </p:txBody>
      </p:sp>
    </p:spTree>
    <p:extLst>
      <p:ext uri="{BB962C8B-B14F-4D97-AF65-F5344CB8AC3E}">
        <p14:creationId xmlns:p14="http://schemas.microsoft.com/office/powerpoint/2010/main" val="1953917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D6E2-BEC1-FB92-6C2B-A806AA54E965}"/>
              </a:ext>
            </a:extLst>
          </p:cNvPr>
          <p:cNvSpPr txBox="1"/>
          <p:nvPr/>
        </p:nvSpPr>
        <p:spPr>
          <a:xfrm>
            <a:off x="697282" y="313151"/>
            <a:ext cx="3123156" cy="584775"/>
          </a:xfrm>
          <a:prstGeom prst="rect">
            <a:avLst/>
          </a:prstGeom>
          <a:noFill/>
        </p:spPr>
        <p:txBody>
          <a:bodyPr wrap="square" rtlCol="0">
            <a:spAutoFit/>
          </a:bodyPr>
          <a:lstStyle/>
          <a:p>
            <a:r>
              <a:rPr lang="en-VN" sz="3200" dirty="0"/>
              <a:t>MOOD &amp; TONE</a:t>
            </a:r>
          </a:p>
        </p:txBody>
      </p:sp>
      <p:pic>
        <p:nvPicPr>
          <p:cNvPr id="1030" name="Picture 6">
            <a:extLst>
              <a:ext uri="{FF2B5EF4-FFF2-40B4-BE49-F238E27FC236}">
                <a16:creationId xmlns:a16="http://schemas.microsoft.com/office/drawing/2014/main" id="{88D4E085-BA11-102A-C380-D3028CB66F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4266" y="897926"/>
            <a:ext cx="4740627" cy="288307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E536D8D8-8842-6AD3-B0BA-8B092E4D8B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892" y="897926"/>
            <a:ext cx="6241009" cy="288307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5D8E935A-791C-451A-4058-D39D093D09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892" y="3893736"/>
            <a:ext cx="4913508" cy="276384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C804AD1C-E2C7-987D-0C6D-6A90EB903E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82442" y="3893736"/>
            <a:ext cx="5097147" cy="2763848"/>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C3E6A258-3ACC-00BA-7512-58B299E567BE}"/>
              </a:ext>
            </a:extLst>
          </p:cNvPr>
          <p:cNvSpPr/>
          <p:nvPr/>
        </p:nvSpPr>
        <p:spPr>
          <a:xfrm>
            <a:off x="6824266" y="359306"/>
            <a:ext cx="425885" cy="425885"/>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Oval 6">
            <a:extLst>
              <a:ext uri="{FF2B5EF4-FFF2-40B4-BE49-F238E27FC236}">
                <a16:creationId xmlns:a16="http://schemas.microsoft.com/office/drawing/2014/main" id="{6B051F5A-D5A2-2A3F-0517-81BB62A6A08C}"/>
              </a:ext>
            </a:extLst>
          </p:cNvPr>
          <p:cNvSpPr/>
          <p:nvPr/>
        </p:nvSpPr>
        <p:spPr>
          <a:xfrm>
            <a:off x="7597915" y="363595"/>
            <a:ext cx="425885" cy="42588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Oval 7">
            <a:extLst>
              <a:ext uri="{FF2B5EF4-FFF2-40B4-BE49-F238E27FC236}">
                <a16:creationId xmlns:a16="http://schemas.microsoft.com/office/drawing/2014/main" id="{8A2EBB18-98CF-6818-CDE6-35F68F223B62}"/>
              </a:ext>
            </a:extLst>
          </p:cNvPr>
          <p:cNvSpPr/>
          <p:nvPr/>
        </p:nvSpPr>
        <p:spPr>
          <a:xfrm>
            <a:off x="8326179" y="359306"/>
            <a:ext cx="425885" cy="425885"/>
          </a:xfrm>
          <a:prstGeom prst="ellipse">
            <a:avLst/>
          </a:prstGeom>
          <a:solidFill>
            <a:srgbClr val="22099A"/>
          </a:solidFill>
          <a:ln>
            <a:solidFill>
              <a:srgbClr val="2209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474922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4">
            <a:extLst>
              <a:ext uri="{FF2B5EF4-FFF2-40B4-BE49-F238E27FC236}">
                <a16:creationId xmlns:a16="http://schemas.microsoft.com/office/drawing/2014/main" id="{F4CFE388-7675-92B4-A6F9-0C83E31781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2400" y="800100"/>
            <a:ext cx="9347200"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495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AE8130-CFC8-D88A-38B5-77DB4239B104}"/>
              </a:ext>
            </a:extLst>
          </p:cNvPr>
          <p:cNvSpPr txBox="1"/>
          <p:nvPr/>
        </p:nvSpPr>
        <p:spPr>
          <a:xfrm>
            <a:off x="7343334" y="1577321"/>
            <a:ext cx="4243957" cy="646331"/>
          </a:xfrm>
          <a:prstGeom prst="rect">
            <a:avLst/>
          </a:prstGeom>
          <a:noFill/>
        </p:spPr>
        <p:txBody>
          <a:bodyPr wrap="square">
            <a:spAutoFit/>
          </a:bodyPr>
          <a:lstStyle/>
          <a:p>
            <a:r>
              <a:rPr lang="en-VN" dirty="0"/>
              <a:t>https://www.pinterest.com/pin/1407443629668891/</a:t>
            </a:r>
          </a:p>
        </p:txBody>
      </p:sp>
      <p:sp>
        <p:nvSpPr>
          <p:cNvPr id="8" name="TextBox 7">
            <a:extLst>
              <a:ext uri="{FF2B5EF4-FFF2-40B4-BE49-F238E27FC236}">
                <a16:creationId xmlns:a16="http://schemas.microsoft.com/office/drawing/2014/main" id="{08012A93-0C6D-BE3B-B69E-D08F5C5DBC60}"/>
              </a:ext>
            </a:extLst>
          </p:cNvPr>
          <p:cNvSpPr txBox="1"/>
          <p:nvPr/>
        </p:nvSpPr>
        <p:spPr>
          <a:xfrm>
            <a:off x="697282" y="313151"/>
            <a:ext cx="3123156" cy="584775"/>
          </a:xfrm>
          <a:prstGeom prst="rect">
            <a:avLst/>
          </a:prstGeom>
          <a:noFill/>
        </p:spPr>
        <p:txBody>
          <a:bodyPr wrap="square" rtlCol="0">
            <a:spAutoFit/>
          </a:bodyPr>
          <a:lstStyle/>
          <a:p>
            <a:r>
              <a:rPr lang="en-VN" sz="3200" dirty="0"/>
              <a:t>THAM KHẢO</a:t>
            </a:r>
          </a:p>
        </p:txBody>
      </p:sp>
      <p:pic>
        <p:nvPicPr>
          <p:cNvPr id="9" name="Picture 2">
            <a:extLst>
              <a:ext uri="{FF2B5EF4-FFF2-40B4-BE49-F238E27FC236}">
                <a16:creationId xmlns:a16="http://schemas.microsoft.com/office/drawing/2014/main" id="{9D2C945D-523D-D1F5-B9CB-857E2EF85E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1045" y="0"/>
            <a:ext cx="34337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0227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B404EA-ACA5-C802-10AA-4C52AB353E66}"/>
              </a:ext>
            </a:extLst>
          </p:cNvPr>
          <p:cNvPicPr>
            <a:picLocks noChangeAspect="1"/>
          </p:cNvPicPr>
          <p:nvPr/>
        </p:nvPicPr>
        <p:blipFill>
          <a:blip r:embed="rId3"/>
          <a:srcRect t="12099"/>
          <a:stretch>
            <a:fillRect/>
          </a:stretch>
        </p:blipFill>
        <p:spPr>
          <a:xfrm>
            <a:off x="187036" y="1443038"/>
            <a:ext cx="6664685" cy="3417015"/>
          </a:xfrm>
          <a:prstGeom prst="rect">
            <a:avLst/>
          </a:prstGeom>
        </p:spPr>
      </p:pic>
      <p:sp>
        <p:nvSpPr>
          <p:cNvPr id="5" name="TextBox 4">
            <a:extLst>
              <a:ext uri="{FF2B5EF4-FFF2-40B4-BE49-F238E27FC236}">
                <a16:creationId xmlns:a16="http://schemas.microsoft.com/office/drawing/2014/main" id="{754C022E-4D0F-CD29-75A3-82CACC96A68C}"/>
              </a:ext>
            </a:extLst>
          </p:cNvPr>
          <p:cNvSpPr txBox="1"/>
          <p:nvPr/>
        </p:nvSpPr>
        <p:spPr>
          <a:xfrm>
            <a:off x="697282" y="313151"/>
            <a:ext cx="3123156" cy="584775"/>
          </a:xfrm>
          <a:prstGeom prst="rect">
            <a:avLst/>
          </a:prstGeom>
          <a:noFill/>
        </p:spPr>
        <p:txBody>
          <a:bodyPr wrap="square" rtlCol="0">
            <a:spAutoFit/>
          </a:bodyPr>
          <a:lstStyle/>
          <a:p>
            <a:r>
              <a:rPr lang="en-VN" sz="3200" dirty="0"/>
              <a:t>HOMEPAGE</a:t>
            </a:r>
          </a:p>
        </p:txBody>
      </p:sp>
      <p:pic>
        <p:nvPicPr>
          <p:cNvPr id="3074" name="Picture 2">
            <a:extLst>
              <a:ext uri="{FF2B5EF4-FFF2-40B4-BE49-F238E27FC236}">
                <a16:creationId xmlns:a16="http://schemas.microsoft.com/office/drawing/2014/main" id="{0A10B078-F98F-2343-23F7-5A95042F4F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7977" y="1443037"/>
            <a:ext cx="4475884" cy="342833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B7D7B32-E29D-13A8-2C1B-AC26F2BE8092}"/>
              </a:ext>
            </a:extLst>
          </p:cNvPr>
          <p:cNvSpPr txBox="1"/>
          <p:nvPr/>
        </p:nvSpPr>
        <p:spPr>
          <a:xfrm>
            <a:off x="3045619" y="5252187"/>
            <a:ext cx="6100762" cy="369332"/>
          </a:xfrm>
          <a:prstGeom prst="rect">
            <a:avLst/>
          </a:prstGeom>
          <a:noFill/>
        </p:spPr>
        <p:txBody>
          <a:bodyPr wrap="square">
            <a:spAutoFit/>
          </a:bodyPr>
          <a:lstStyle/>
          <a:p>
            <a:pPr algn="ctr">
              <a:buNone/>
            </a:pPr>
            <a:r>
              <a:rPr lang="en-US" b="1" i="0" cap="all" dirty="0">
                <a:solidFill>
                  <a:srgbClr val="F15A29"/>
                </a:solidFill>
                <a:effectLst/>
                <a:latin typeface="Equip"/>
              </a:rPr>
              <a:t>We are an event experience agency</a:t>
            </a:r>
          </a:p>
        </p:txBody>
      </p:sp>
      <p:sp>
        <p:nvSpPr>
          <p:cNvPr id="9" name="TextBox 8">
            <a:extLst>
              <a:ext uri="{FF2B5EF4-FFF2-40B4-BE49-F238E27FC236}">
                <a16:creationId xmlns:a16="http://schemas.microsoft.com/office/drawing/2014/main" id="{3A7F2384-2D1B-4FF2-A3A4-87B15EA232BB}"/>
              </a:ext>
            </a:extLst>
          </p:cNvPr>
          <p:cNvSpPr txBox="1"/>
          <p:nvPr/>
        </p:nvSpPr>
        <p:spPr>
          <a:xfrm>
            <a:off x="3155157" y="5621519"/>
            <a:ext cx="6100762" cy="923330"/>
          </a:xfrm>
          <a:prstGeom prst="rect">
            <a:avLst/>
          </a:prstGeom>
          <a:noFill/>
        </p:spPr>
        <p:txBody>
          <a:bodyPr wrap="square">
            <a:spAutoFit/>
          </a:bodyPr>
          <a:lstStyle/>
          <a:p>
            <a:pPr algn="ctr">
              <a:buNone/>
            </a:pPr>
            <a:r>
              <a:rPr lang="en-US" b="0" i="0" dirty="0">
                <a:solidFill>
                  <a:srgbClr val="231F20"/>
                </a:solidFill>
                <a:effectLst/>
                <a:latin typeface="Equip"/>
              </a:rPr>
              <a:t>We partner with global and local brands and trusted talents for truly creative content solutions.</a:t>
            </a:r>
            <a:br>
              <a:rPr lang="en-US" b="0" i="0" dirty="0">
                <a:solidFill>
                  <a:srgbClr val="231F20"/>
                </a:solidFill>
                <a:effectLst/>
                <a:latin typeface="Equip"/>
              </a:rPr>
            </a:br>
            <a:r>
              <a:rPr lang="en-US" b="0" i="0" dirty="0">
                <a:solidFill>
                  <a:srgbClr val="231F20"/>
                </a:solidFill>
                <a:effectLst/>
                <a:latin typeface="Equip"/>
              </a:rPr>
              <a:t>Branding – Content – Design – Visuals – Marketing – Events </a:t>
            </a:r>
          </a:p>
        </p:txBody>
      </p:sp>
    </p:spTree>
    <p:extLst>
      <p:ext uri="{BB962C8B-B14F-4D97-AF65-F5344CB8AC3E}">
        <p14:creationId xmlns:p14="http://schemas.microsoft.com/office/powerpoint/2010/main" val="3110321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871DB-D1F2-F37C-FD03-D76F72D687C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1E943DC-E041-5E3C-26F9-2526F9D5C8EA}"/>
              </a:ext>
            </a:extLst>
          </p:cNvPr>
          <p:cNvSpPr txBox="1"/>
          <p:nvPr/>
        </p:nvSpPr>
        <p:spPr>
          <a:xfrm>
            <a:off x="697282" y="313151"/>
            <a:ext cx="3123156" cy="584775"/>
          </a:xfrm>
          <a:prstGeom prst="rect">
            <a:avLst/>
          </a:prstGeom>
          <a:noFill/>
        </p:spPr>
        <p:txBody>
          <a:bodyPr wrap="square" rtlCol="0">
            <a:spAutoFit/>
          </a:bodyPr>
          <a:lstStyle/>
          <a:p>
            <a:r>
              <a:rPr lang="en-VN" sz="3200" dirty="0"/>
              <a:t>HOMEPAGE</a:t>
            </a:r>
          </a:p>
        </p:txBody>
      </p:sp>
      <p:pic>
        <p:nvPicPr>
          <p:cNvPr id="3074" name="Picture 2">
            <a:extLst>
              <a:ext uri="{FF2B5EF4-FFF2-40B4-BE49-F238E27FC236}">
                <a16:creationId xmlns:a16="http://schemas.microsoft.com/office/drawing/2014/main" id="{60355710-9A62-FCED-E822-2DE37868EA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081" y="1217523"/>
            <a:ext cx="5461337" cy="418315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F1119C4-B415-44BB-C906-3F72FC40A45B}"/>
              </a:ext>
            </a:extLst>
          </p:cNvPr>
          <p:cNvSpPr txBox="1"/>
          <p:nvPr/>
        </p:nvSpPr>
        <p:spPr>
          <a:xfrm>
            <a:off x="5691187" y="2588181"/>
            <a:ext cx="6100762" cy="369332"/>
          </a:xfrm>
          <a:prstGeom prst="rect">
            <a:avLst/>
          </a:prstGeom>
          <a:noFill/>
        </p:spPr>
        <p:txBody>
          <a:bodyPr wrap="square">
            <a:spAutoFit/>
          </a:bodyPr>
          <a:lstStyle/>
          <a:p>
            <a:pPr algn="ctr">
              <a:buNone/>
            </a:pPr>
            <a:r>
              <a:rPr lang="en-US" b="1" i="0" cap="all" dirty="0">
                <a:solidFill>
                  <a:srgbClr val="F15A29"/>
                </a:solidFill>
                <a:effectLst/>
                <a:latin typeface="Equip"/>
              </a:rPr>
              <a:t>We are an event experience agency</a:t>
            </a:r>
          </a:p>
        </p:txBody>
      </p:sp>
      <p:sp>
        <p:nvSpPr>
          <p:cNvPr id="9" name="TextBox 8">
            <a:extLst>
              <a:ext uri="{FF2B5EF4-FFF2-40B4-BE49-F238E27FC236}">
                <a16:creationId xmlns:a16="http://schemas.microsoft.com/office/drawing/2014/main" id="{7B5965F4-6B14-9C90-237B-AA2346057864}"/>
              </a:ext>
            </a:extLst>
          </p:cNvPr>
          <p:cNvSpPr txBox="1"/>
          <p:nvPr/>
        </p:nvSpPr>
        <p:spPr>
          <a:xfrm>
            <a:off x="5800725" y="2957513"/>
            <a:ext cx="6100762" cy="923330"/>
          </a:xfrm>
          <a:prstGeom prst="rect">
            <a:avLst/>
          </a:prstGeom>
          <a:noFill/>
        </p:spPr>
        <p:txBody>
          <a:bodyPr wrap="square">
            <a:spAutoFit/>
          </a:bodyPr>
          <a:lstStyle/>
          <a:p>
            <a:pPr algn="ctr">
              <a:buNone/>
            </a:pPr>
            <a:r>
              <a:rPr lang="en-US" b="0" i="0" dirty="0">
                <a:solidFill>
                  <a:srgbClr val="231F20"/>
                </a:solidFill>
                <a:effectLst/>
                <a:latin typeface="Equip"/>
              </a:rPr>
              <a:t>We partner with global and local brands and trusted talents for truly creative content solutions.</a:t>
            </a:r>
            <a:br>
              <a:rPr lang="en-US" b="0" i="0" dirty="0">
                <a:solidFill>
                  <a:srgbClr val="231F20"/>
                </a:solidFill>
                <a:effectLst/>
                <a:latin typeface="Equip"/>
              </a:rPr>
            </a:br>
            <a:r>
              <a:rPr lang="en-US" b="0" i="0" dirty="0">
                <a:solidFill>
                  <a:srgbClr val="231F20"/>
                </a:solidFill>
                <a:effectLst/>
                <a:latin typeface="Equip"/>
              </a:rPr>
              <a:t>Branding – Content – Design – Visuals – Marketing – Events </a:t>
            </a:r>
          </a:p>
        </p:txBody>
      </p:sp>
      <p:sp>
        <p:nvSpPr>
          <p:cNvPr id="2" name="TextBox 1">
            <a:extLst>
              <a:ext uri="{FF2B5EF4-FFF2-40B4-BE49-F238E27FC236}">
                <a16:creationId xmlns:a16="http://schemas.microsoft.com/office/drawing/2014/main" id="{18D430E3-0772-2579-2D7D-4E9CE6609A9C}"/>
              </a:ext>
            </a:extLst>
          </p:cNvPr>
          <p:cNvSpPr txBox="1"/>
          <p:nvPr/>
        </p:nvSpPr>
        <p:spPr>
          <a:xfrm>
            <a:off x="5829300" y="1217523"/>
            <a:ext cx="971550" cy="369332"/>
          </a:xfrm>
          <a:prstGeom prst="rect">
            <a:avLst/>
          </a:prstGeom>
          <a:noFill/>
        </p:spPr>
        <p:txBody>
          <a:bodyPr wrap="square" rtlCol="0">
            <a:spAutoFit/>
          </a:bodyPr>
          <a:lstStyle/>
          <a:p>
            <a:r>
              <a:rPr lang="en-VN" dirty="0"/>
              <a:t>About</a:t>
            </a:r>
          </a:p>
        </p:txBody>
      </p:sp>
      <p:sp>
        <p:nvSpPr>
          <p:cNvPr id="3" name="TextBox 2">
            <a:extLst>
              <a:ext uri="{FF2B5EF4-FFF2-40B4-BE49-F238E27FC236}">
                <a16:creationId xmlns:a16="http://schemas.microsoft.com/office/drawing/2014/main" id="{F96CA5BA-1AC7-7A7E-4E46-FAE720C35415}"/>
              </a:ext>
            </a:extLst>
          </p:cNvPr>
          <p:cNvSpPr txBox="1"/>
          <p:nvPr/>
        </p:nvSpPr>
        <p:spPr>
          <a:xfrm>
            <a:off x="9324975" y="1217523"/>
            <a:ext cx="971550" cy="369332"/>
          </a:xfrm>
          <a:prstGeom prst="rect">
            <a:avLst/>
          </a:prstGeom>
          <a:noFill/>
        </p:spPr>
        <p:txBody>
          <a:bodyPr wrap="square" rtlCol="0">
            <a:spAutoFit/>
          </a:bodyPr>
          <a:lstStyle/>
          <a:p>
            <a:r>
              <a:rPr lang="en-VN" dirty="0"/>
              <a:t>Careers</a:t>
            </a:r>
          </a:p>
        </p:txBody>
      </p:sp>
      <p:sp>
        <p:nvSpPr>
          <p:cNvPr id="6" name="TextBox 5">
            <a:extLst>
              <a:ext uri="{FF2B5EF4-FFF2-40B4-BE49-F238E27FC236}">
                <a16:creationId xmlns:a16="http://schemas.microsoft.com/office/drawing/2014/main" id="{B651D787-0F66-9E9A-6C4C-EF4CC122EF95}"/>
              </a:ext>
            </a:extLst>
          </p:cNvPr>
          <p:cNvSpPr txBox="1"/>
          <p:nvPr/>
        </p:nvSpPr>
        <p:spPr>
          <a:xfrm>
            <a:off x="10703718" y="1217523"/>
            <a:ext cx="1197769" cy="369332"/>
          </a:xfrm>
          <a:prstGeom prst="rect">
            <a:avLst/>
          </a:prstGeom>
          <a:noFill/>
        </p:spPr>
        <p:txBody>
          <a:bodyPr wrap="square" rtlCol="0">
            <a:spAutoFit/>
          </a:bodyPr>
          <a:lstStyle/>
          <a:p>
            <a:r>
              <a:rPr lang="en-VN" dirty="0"/>
              <a:t>Podcast</a:t>
            </a:r>
          </a:p>
        </p:txBody>
      </p:sp>
      <p:sp>
        <p:nvSpPr>
          <p:cNvPr id="8" name="TextBox 7">
            <a:extLst>
              <a:ext uri="{FF2B5EF4-FFF2-40B4-BE49-F238E27FC236}">
                <a16:creationId xmlns:a16="http://schemas.microsoft.com/office/drawing/2014/main" id="{F4D53956-E43E-8757-13F2-7A5D80F3EC4B}"/>
              </a:ext>
            </a:extLst>
          </p:cNvPr>
          <p:cNvSpPr txBox="1"/>
          <p:nvPr/>
        </p:nvSpPr>
        <p:spPr>
          <a:xfrm>
            <a:off x="6800849" y="1217523"/>
            <a:ext cx="1071563" cy="369332"/>
          </a:xfrm>
          <a:prstGeom prst="rect">
            <a:avLst/>
          </a:prstGeom>
          <a:noFill/>
        </p:spPr>
        <p:txBody>
          <a:bodyPr wrap="square" rtlCol="0">
            <a:spAutoFit/>
          </a:bodyPr>
          <a:lstStyle/>
          <a:p>
            <a:r>
              <a:rPr lang="en-VN" dirty="0"/>
              <a:t>Services</a:t>
            </a:r>
          </a:p>
        </p:txBody>
      </p:sp>
    </p:spTree>
    <p:extLst>
      <p:ext uri="{BB962C8B-B14F-4D97-AF65-F5344CB8AC3E}">
        <p14:creationId xmlns:p14="http://schemas.microsoft.com/office/powerpoint/2010/main" val="4086270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8E9782D-9BB2-BA92-9EB5-BCAE0BE0D2D1}"/>
              </a:ext>
            </a:extLst>
          </p:cNvPr>
          <p:cNvSpPr txBox="1"/>
          <p:nvPr/>
        </p:nvSpPr>
        <p:spPr>
          <a:xfrm>
            <a:off x="697282" y="313151"/>
            <a:ext cx="3123156" cy="584775"/>
          </a:xfrm>
          <a:prstGeom prst="rect">
            <a:avLst/>
          </a:prstGeom>
          <a:noFill/>
        </p:spPr>
        <p:txBody>
          <a:bodyPr wrap="square" rtlCol="0">
            <a:spAutoFit/>
          </a:bodyPr>
          <a:lstStyle/>
          <a:p>
            <a:r>
              <a:rPr lang="en-VN" sz="3200" dirty="0"/>
              <a:t>HOMEPAGE</a:t>
            </a:r>
          </a:p>
        </p:txBody>
      </p:sp>
      <p:sp>
        <p:nvSpPr>
          <p:cNvPr id="7" name="TextBox 6">
            <a:extLst>
              <a:ext uri="{FF2B5EF4-FFF2-40B4-BE49-F238E27FC236}">
                <a16:creationId xmlns:a16="http://schemas.microsoft.com/office/drawing/2014/main" id="{4670F2CD-1B7F-11B2-414D-DD0AF72810DF}"/>
              </a:ext>
            </a:extLst>
          </p:cNvPr>
          <p:cNvSpPr txBox="1"/>
          <p:nvPr/>
        </p:nvSpPr>
        <p:spPr>
          <a:xfrm>
            <a:off x="6096000" y="897926"/>
            <a:ext cx="1967345" cy="2585323"/>
          </a:xfrm>
          <a:prstGeom prst="rect">
            <a:avLst/>
          </a:prstGeom>
          <a:noFill/>
        </p:spPr>
        <p:txBody>
          <a:bodyPr wrap="square">
            <a:spAutoFit/>
          </a:bodyPr>
          <a:lstStyle/>
          <a:p>
            <a:pPr>
              <a:buNone/>
            </a:pPr>
            <a:r>
              <a:rPr lang="en-US" b="1" i="0" cap="all" dirty="0">
                <a:solidFill>
                  <a:srgbClr val="F15A29"/>
                </a:solidFill>
                <a:effectLst/>
                <a:latin typeface="Equip"/>
              </a:rPr>
              <a:t>What we do</a:t>
            </a:r>
          </a:p>
          <a:p>
            <a:pPr>
              <a:buNone/>
            </a:pPr>
            <a:r>
              <a:rPr lang="en-US" dirty="0"/>
              <a:t>We don’t just organize events; we ignite emotions, command the spotlight, and leave audiences wide-eyed.</a:t>
            </a:r>
            <a:endParaRPr lang="en-US" b="0" i="0" dirty="0">
              <a:effectLst/>
              <a:latin typeface="Equip"/>
            </a:endParaRPr>
          </a:p>
        </p:txBody>
      </p:sp>
      <p:pic>
        <p:nvPicPr>
          <p:cNvPr id="8" name="Picture 7">
            <a:extLst>
              <a:ext uri="{FF2B5EF4-FFF2-40B4-BE49-F238E27FC236}">
                <a16:creationId xmlns:a16="http://schemas.microsoft.com/office/drawing/2014/main" id="{C53889E0-F678-7398-6878-8539F6445AC6}"/>
              </a:ext>
            </a:extLst>
          </p:cNvPr>
          <p:cNvPicPr>
            <a:picLocks noChangeAspect="1"/>
          </p:cNvPicPr>
          <p:nvPr/>
        </p:nvPicPr>
        <p:blipFill>
          <a:blip r:embed="rId3"/>
          <a:stretch>
            <a:fillRect/>
          </a:stretch>
        </p:blipFill>
        <p:spPr>
          <a:xfrm>
            <a:off x="170582" y="899138"/>
            <a:ext cx="5810987" cy="3406856"/>
          </a:xfrm>
          <a:prstGeom prst="rect">
            <a:avLst/>
          </a:prstGeom>
        </p:spPr>
      </p:pic>
      <p:sp>
        <p:nvSpPr>
          <p:cNvPr id="9" name="Rounded Rectangle 8">
            <a:extLst>
              <a:ext uri="{FF2B5EF4-FFF2-40B4-BE49-F238E27FC236}">
                <a16:creationId xmlns:a16="http://schemas.microsoft.com/office/drawing/2014/main" id="{12185EF1-A723-E2A1-E516-9949B0EA3698}"/>
              </a:ext>
            </a:extLst>
          </p:cNvPr>
          <p:cNvSpPr/>
          <p:nvPr/>
        </p:nvSpPr>
        <p:spPr>
          <a:xfrm>
            <a:off x="8703424" y="3879315"/>
            <a:ext cx="2643448" cy="4014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SHOW MORE</a:t>
            </a:r>
          </a:p>
        </p:txBody>
      </p:sp>
      <p:sp>
        <p:nvSpPr>
          <p:cNvPr id="10" name="Rectangle 9">
            <a:extLst>
              <a:ext uri="{FF2B5EF4-FFF2-40B4-BE49-F238E27FC236}">
                <a16:creationId xmlns:a16="http://schemas.microsoft.com/office/drawing/2014/main" id="{8C9E66C8-7ACA-0E25-0258-973D4E59EA1A}"/>
              </a:ext>
            </a:extLst>
          </p:cNvPr>
          <p:cNvSpPr/>
          <p:nvPr/>
        </p:nvSpPr>
        <p:spPr>
          <a:xfrm>
            <a:off x="8063344" y="1012226"/>
            <a:ext cx="3923607" cy="2080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CLIP SHOWREEL</a:t>
            </a:r>
          </a:p>
        </p:txBody>
      </p:sp>
    </p:spTree>
    <p:extLst>
      <p:ext uri="{BB962C8B-B14F-4D97-AF65-F5344CB8AC3E}">
        <p14:creationId xmlns:p14="http://schemas.microsoft.com/office/powerpoint/2010/main" val="2872267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DFF5AF-04C9-CB9C-0E1B-EDEE39337ACA}"/>
              </a:ext>
            </a:extLst>
          </p:cNvPr>
          <p:cNvSpPr txBox="1"/>
          <p:nvPr/>
        </p:nvSpPr>
        <p:spPr>
          <a:xfrm>
            <a:off x="697282" y="313151"/>
            <a:ext cx="3123156" cy="584775"/>
          </a:xfrm>
          <a:prstGeom prst="rect">
            <a:avLst/>
          </a:prstGeom>
          <a:noFill/>
        </p:spPr>
        <p:txBody>
          <a:bodyPr wrap="square" rtlCol="0">
            <a:spAutoFit/>
          </a:bodyPr>
          <a:lstStyle/>
          <a:p>
            <a:r>
              <a:rPr lang="en-VN" sz="3200" dirty="0"/>
              <a:t>HOMEPAGE</a:t>
            </a:r>
          </a:p>
        </p:txBody>
      </p:sp>
      <p:sp>
        <p:nvSpPr>
          <p:cNvPr id="5" name="TextBox 4">
            <a:extLst>
              <a:ext uri="{FF2B5EF4-FFF2-40B4-BE49-F238E27FC236}">
                <a16:creationId xmlns:a16="http://schemas.microsoft.com/office/drawing/2014/main" id="{E777A647-34A6-6538-351A-1319CC5BC8DB}"/>
              </a:ext>
            </a:extLst>
          </p:cNvPr>
          <p:cNvSpPr txBox="1"/>
          <p:nvPr/>
        </p:nvSpPr>
        <p:spPr>
          <a:xfrm>
            <a:off x="6860412" y="897926"/>
            <a:ext cx="5066967" cy="1754326"/>
          </a:xfrm>
          <a:prstGeom prst="rect">
            <a:avLst/>
          </a:prstGeom>
          <a:noFill/>
        </p:spPr>
        <p:txBody>
          <a:bodyPr wrap="square">
            <a:spAutoFit/>
          </a:bodyPr>
          <a:lstStyle/>
          <a:p>
            <a:pPr>
              <a:buNone/>
            </a:pPr>
            <a:r>
              <a:rPr lang="en-US" b="1" i="0" cap="all" dirty="0">
                <a:solidFill>
                  <a:srgbClr val="F15A29"/>
                </a:solidFill>
                <a:effectLst/>
                <a:latin typeface="Equip"/>
              </a:rPr>
              <a:t>CLIENTS</a:t>
            </a:r>
          </a:p>
          <a:p>
            <a:r>
              <a:rPr lang="en-US" b="1" dirty="0"/>
              <a:t>Being alongside our esteemed clients is the greatest pride of B2EVENT.</a:t>
            </a:r>
            <a:br>
              <a:rPr lang="en-US" dirty="0"/>
            </a:br>
            <a:r>
              <a:rPr lang="en-US" dirty="0"/>
              <a:t>Every milestone our clients achieve becomes a source of inspiration for us to continuously innovate, create, and push beyond limits.</a:t>
            </a:r>
          </a:p>
        </p:txBody>
      </p:sp>
      <p:pic>
        <p:nvPicPr>
          <p:cNvPr id="6" name="Picture 5">
            <a:extLst>
              <a:ext uri="{FF2B5EF4-FFF2-40B4-BE49-F238E27FC236}">
                <a16:creationId xmlns:a16="http://schemas.microsoft.com/office/drawing/2014/main" id="{478FEEE5-F5F0-981B-6635-11B97EEC3AF6}"/>
              </a:ext>
            </a:extLst>
          </p:cNvPr>
          <p:cNvPicPr>
            <a:picLocks noChangeAspect="1"/>
          </p:cNvPicPr>
          <p:nvPr/>
        </p:nvPicPr>
        <p:blipFill>
          <a:blip r:embed="rId2"/>
          <a:stretch>
            <a:fillRect/>
          </a:stretch>
        </p:blipFill>
        <p:spPr>
          <a:xfrm>
            <a:off x="6975314" y="2945712"/>
            <a:ext cx="4952065" cy="1627439"/>
          </a:xfrm>
          <a:prstGeom prst="rect">
            <a:avLst/>
          </a:prstGeom>
        </p:spPr>
      </p:pic>
      <p:pic>
        <p:nvPicPr>
          <p:cNvPr id="7" name="Picture 6">
            <a:extLst>
              <a:ext uri="{FF2B5EF4-FFF2-40B4-BE49-F238E27FC236}">
                <a16:creationId xmlns:a16="http://schemas.microsoft.com/office/drawing/2014/main" id="{48960BD7-D06B-CB7A-34E5-202CAD5E33FF}"/>
              </a:ext>
            </a:extLst>
          </p:cNvPr>
          <p:cNvPicPr>
            <a:picLocks noChangeAspect="1"/>
          </p:cNvPicPr>
          <p:nvPr/>
        </p:nvPicPr>
        <p:blipFill>
          <a:blip r:embed="rId3"/>
          <a:stretch>
            <a:fillRect/>
          </a:stretch>
        </p:blipFill>
        <p:spPr>
          <a:xfrm>
            <a:off x="264621" y="1049964"/>
            <a:ext cx="6595791" cy="3523187"/>
          </a:xfrm>
          <a:prstGeom prst="rect">
            <a:avLst/>
          </a:prstGeom>
        </p:spPr>
      </p:pic>
    </p:spTree>
    <p:extLst>
      <p:ext uri="{BB962C8B-B14F-4D97-AF65-F5344CB8AC3E}">
        <p14:creationId xmlns:p14="http://schemas.microsoft.com/office/powerpoint/2010/main" val="3471644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D8CC6D-F9BD-33FE-0A5C-DADC394BB264}"/>
              </a:ext>
            </a:extLst>
          </p:cNvPr>
          <p:cNvPicPr>
            <a:picLocks noChangeAspect="1"/>
          </p:cNvPicPr>
          <p:nvPr/>
        </p:nvPicPr>
        <p:blipFill>
          <a:blip r:embed="rId2"/>
          <a:stretch>
            <a:fillRect/>
          </a:stretch>
        </p:blipFill>
        <p:spPr>
          <a:xfrm>
            <a:off x="2301478" y="444570"/>
            <a:ext cx="7772400" cy="4106493"/>
          </a:xfrm>
          <a:prstGeom prst="rect">
            <a:avLst/>
          </a:prstGeom>
        </p:spPr>
      </p:pic>
      <p:sp>
        <p:nvSpPr>
          <p:cNvPr id="7" name="TextBox 6">
            <a:extLst>
              <a:ext uri="{FF2B5EF4-FFF2-40B4-BE49-F238E27FC236}">
                <a16:creationId xmlns:a16="http://schemas.microsoft.com/office/drawing/2014/main" id="{AF400142-FECF-ABE4-CE50-8C9083FE253D}"/>
              </a:ext>
            </a:extLst>
          </p:cNvPr>
          <p:cNvSpPr txBox="1"/>
          <p:nvPr/>
        </p:nvSpPr>
        <p:spPr>
          <a:xfrm>
            <a:off x="5467350" y="4665363"/>
            <a:ext cx="7589044" cy="2031325"/>
          </a:xfrm>
          <a:prstGeom prst="rect">
            <a:avLst/>
          </a:prstGeom>
          <a:noFill/>
        </p:spPr>
        <p:txBody>
          <a:bodyPr wrap="square">
            <a:spAutoFit/>
          </a:bodyPr>
          <a:lstStyle/>
          <a:p>
            <a:pPr algn="l">
              <a:buNone/>
            </a:pPr>
            <a:r>
              <a:rPr lang="en-US" b="1" i="0" dirty="0">
                <a:effectLst/>
                <a:latin typeface="Equip"/>
              </a:rPr>
              <a:t>Ho Chi Minh Head Office</a:t>
            </a:r>
          </a:p>
          <a:p>
            <a:pPr algn="l">
              <a:buNone/>
            </a:pPr>
            <a:r>
              <a:rPr lang="en-US" b="0" i="0" dirty="0">
                <a:effectLst/>
                <a:latin typeface="Equip"/>
              </a:rPr>
              <a:t>75 Hoang Van Thu Street, Cau Kieu Ward, Ho Chi Minh City</a:t>
            </a:r>
          </a:p>
          <a:p>
            <a:pPr algn="l">
              <a:buNone/>
            </a:pPr>
            <a:r>
              <a:rPr lang="en-US" b="0" i="0" dirty="0">
                <a:effectLst/>
                <a:latin typeface="Equip"/>
              </a:rPr>
              <a:t>(028) 38 225 34781/782/783</a:t>
            </a:r>
          </a:p>
          <a:p>
            <a:pPr algn="l">
              <a:buNone/>
            </a:pPr>
            <a:r>
              <a:rPr lang="en-US" b="1" i="0" dirty="0">
                <a:effectLst/>
                <a:latin typeface="Equip"/>
              </a:rPr>
              <a:t>CONTACT B2EVENT</a:t>
            </a:r>
          </a:p>
          <a:p>
            <a:pPr algn="l">
              <a:buNone/>
            </a:pPr>
            <a:r>
              <a:rPr lang="en-US" b="0" i="0" dirty="0">
                <a:effectLst/>
                <a:latin typeface="Equip"/>
              </a:rPr>
              <a:t>Email: contact@b2event.vn</a:t>
            </a:r>
          </a:p>
          <a:p>
            <a:pPr algn="l">
              <a:buNone/>
            </a:pPr>
            <a:r>
              <a:rPr lang="en-US" b="0" i="0" dirty="0">
                <a:solidFill>
                  <a:srgbClr val="FF0000"/>
                </a:solidFill>
                <a:effectLst/>
                <a:latin typeface="Equip"/>
              </a:rPr>
              <a:t>Hotline/</a:t>
            </a:r>
            <a:r>
              <a:rPr lang="en-US" b="0" i="0" dirty="0" err="1">
                <a:solidFill>
                  <a:srgbClr val="FF0000"/>
                </a:solidFill>
                <a:effectLst/>
                <a:latin typeface="Equip"/>
              </a:rPr>
              <a:t>Zalo</a:t>
            </a:r>
            <a:r>
              <a:rPr lang="en-US" b="0" i="0" dirty="0">
                <a:solidFill>
                  <a:srgbClr val="FF0000"/>
                </a:solidFill>
                <a:effectLst/>
                <a:latin typeface="Equip"/>
              </a:rPr>
              <a:t> : 0907 561 170 - Kevin Dang</a:t>
            </a:r>
          </a:p>
          <a:p>
            <a:pPr algn="l">
              <a:buNone/>
            </a:pPr>
            <a:r>
              <a:rPr lang="en-US" b="0" i="0" dirty="0">
                <a:effectLst/>
                <a:latin typeface="Equip"/>
              </a:rPr>
              <a:t>Working Hours: 9:00 AM – 6:00 PM</a:t>
            </a:r>
          </a:p>
        </p:txBody>
      </p:sp>
      <p:sp>
        <p:nvSpPr>
          <p:cNvPr id="8" name="TextBox 7">
            <a:extLst>
              <a:ext uri="{FF2B5EF4-FFF2-40B4-BE49-F238E27FC236}">
                <a16:creationId xmlns:a16="http://schemas.microsoft.com/office/drawing/2014/main" id="{13CC4E11-D96F-1B08-81CD-6C69F2249377}"/>
              </a:ext>
            </a:extLst>
          </p:cNvPr>
          <p:cNvSpPr txBox="1"/>
          <p:nvPr/>
        </p:nvSpPr>
        <p:spPr>
          <a:xfrm>
            <a:off x="871538" y="5057776"/>
            <a:ext cx="4443412" cy="369332"/>
          </a:xfrm>
          <a:prstGeom prst="rect">
            <a:avLst/>
          </a:prstGeom>
          <a:noFill/>
        </p:spPr>
        <p:txBody>
          <a:bodyPr wrap="square" rtlCol="0">
            <a:spAutoFit/>
          </a:bodyPr>
          <a:lstStyle/>
          <a:p>
            <a:r>
              <a:rPr lang="en-VN" dirty="0"/>
              <a:t>WE WOULD LOVE TO HEAR FROM YOU</a:t>
            </a:r>
          </a:p>
        </p:txBody>
      </p:sp>
    </p:spTree>
    <p:extLst>
      <p:ext uri="{BB962C8B-B14F-4D97-AF65-F5344CB8AC3E}">
        <p14:creationId xmlns:p14="http://schemas.microsoft.com/office/powerpoint/2010/main" val="3996789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9D75C77-2A62-DAA7-E1AB-DBBF287DE775}"/>
              </a:ext>
            </a:extLst>
          </p:cNvPr>
          <p:cNvSpPr txBox="1"/>
          <p:nvPr/>
        </p:nvSpPr>
        <p:spPr>
          <a:xfrm>
            <a:off x="697282" y="313151"/>
            <a:ext cx="3123156" cy="584775"/>
          </a:xfrm>
          <a:prstGeom prst="rect">
            <a:avLst/>
          </a:prstGeom>
          <a:noFill/>
        </p:spPr>
        <p:txBody>
          <a:bodyPr wrap="square" rtlCol="0">
            <a:spAutoFit/>
          </a:bodyPr>
          <a:lstStyle/>
          <a:p>
            <a:r>
              <a:rPr lang="en-VN" sz="3200" dirty="0"/>
              <a:t>SERVICES</a:t>
            </a:r>
          </a:p>
        </p:txBody>
      </p:sp>
      <p:pic>
        <p:nvPicPr>
          <p:cNvPr id="5" name="Picture 4">
            <a:extLst>
              <a:ext uri="{FF2B5EF4-FFF2-40B4-BE49-F238E27FC236}">
                <a16:creationId xmlns:a16="http://schemas.microsoft.com/office/drawing/2014/main" id="{071F4668-07A1-DD2F-A092-B882FD9E08E0}"/>
              </a:ext>
            </a:extLst>
          </p:cNvPr>
          <p:cNvPicPr>
            <a:picLocks noChangeAspect="1"/>
          </p:cNvPicPr>
          <p:nvPr/>
        </p:nvPicPr>
        <p:blipFill>
          <a:blip r:embed="rId3"/>
          <a:stretch>
            <a:fillRect/>
          </a:stretch>
        </p:blipFill>
        <p:spPr>
          <a:xfrm>
            <a:off x="362910" y="1067142"/>
            <a:ext cx="5916732" cy="3621236"/>
          </a:xfrm>
          <a:prstGeom prst="rect">
            <a:avLst/>
          </a:prstGeom>
        </p:spPr>
      </p:pic>
      <p:sp>
        <p:nvSpPr>
          <p:cNvPr id="7" name="TextBox 6">
            <a:extLst>
              <a:ext uri="{FF2B5EF4-FFF2-40B4-BE49-F238E27FC236}">
                <a16:creationId xmlns:a16="http://schemas.microsoft.com/office/drawing/2014/main" id="{F560560E-39BC-2EA7-0854-B0142C954364}"/>
              </a:ext>
            </a:extLst>
          </p:cNvPr>
          <p:cNvSpPr txBox="1"/>
          <p:nvPr/>
        </p:nvSpPr>
        <p:spPr>
          <a:xfrm>
            <a:off x="6733309" y="574760"/>
            <a:ext cx="5295208" cy="1477328"/>
          </a:xfrm>
          <a:prstGeom prst="rect">
            <a:avLst/>
          </a:prstGeom>
          <a:noFill/>
        </p:spPr>
        <p:txBody>
          <a:bodyPr wrap="square">
            <a:spAutoFit/>
          </a:bodyPr>
          <a:lstStyle/>
          <a:p>
            <a:pPr algn="ctr">
              <a:buNone/>
            </a:pPr>
            <a:r>
              <a:rPr lang="en-US" b="1" dirty="0"/>
              <a:t>We’ve got the secret sauce — and it lights up every stage.</a:t>
            </a:r>
            <a:br>
              <a:rPr lang="en-US" dirty="0"/>
            </a:br>
            <a:r>
              <a:rPr lang="en-US" dirty="0"/>
              <a:t>We don’t just organize events; we ignite emotions, command the spotlight, and leave audiences wide-eyed.</a:t>
            </a:r>
            <a:endParaRPr lang="en-US" b="1" i="0" dirty="0">
              <a:effectLst/>
              <a:latin typeface="Equip"/>
            </a:endParaRPr>
          </a:p>
        </p:txBody>
      </p:sp>
      <p:sp>
        <p:nvSpPr>
          <p:cNvPr id="17" name="Rectangle 13">
            <a:extLst>
              <a:ext uri="{FF2B5EF4-FFF2-40B4-BE49-F238E27FC236}">
                <a16:creationId xmlns:a16="http://schemas.microsoft.com/office/drawing/2014/main" id="{FD2E3E94-F4C4-0F99-123E-4417A2EEEA95}"/>
              </a:ext>
            </a:extLst>
          </p:cNvPr>
          <p:cNvSpPr>
            <a:spLocks noChangeArrowheads="1"/>
          </p:cNvSpPr>
          <p:nvPr/>
        </p:nvSpPr>
        <p:spPr bwMode="auto">
          <a:xfrm>
            <a:off x="6426698" y="2103055"/>
            <a:ext cx="295421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VN" altLang="en-VN" sz="1800" b="0" i="0" u="none" strike="noStrike" cap="none" normalizeH="0" baseline="0" dirty="0">
                <a:ln>
                  <a:noFill/>
                </a:ln>
                <a:solidFill>
                  <a:schemeClr val="tx1"/>
                </a:solidFill>
                <a:effectLst/>
                <a:latin typeface="Arial" panose="020B0604020202020204" pitchFamily="34" charset="0"/>
              </a:rPr>
              <a:t>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VN" altLang="en-VN" sz="1800" b="0" i="0" u="none" strike="noStrike" cap="none" normalizeH="0" baseline="0" dirty="0">
                <a:ln>
                  <a:noFill/>
                </a:ln>
                <a:solidFill>
                  <a:schemeClr val="tx1"/>
                </a:solidFill>
                <a:effectLst/>
                <a:latin typeface="Arial" panose="020B0604020202020204" pitchFamily="34" charset="0"/>
              </a:rPr>
              <a:t>Event Launches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VN" altLang="en-VN" sz="1800" b="0" i="0" u="none" strike="noStrike" cap="none" normalizeH="0" baseline="0" dirty="0">
                <a:ln>
                  <a:noFill/>
                </a:ln>
                <a:solidFill>
                  <a:schemeClr val="tx1"/>
                </a:solidFill>
                <a:effectLst/>
                <a:latin typeface="Arial" panose="020B0604020202020204" pitchFamily="34" charset="0"/>
              </a:rPr>
              <a:t>Conferences &amp; Seminars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VN" altLang="en-VN" sz="1800" b="0" i="0" u="none" strike="noStrike" cap="none" normalizeH="0" baseline="0" dirty="0">
                <a:ln>
                  <a:noFill/>
                </a:ln>
                <a:solidFill>
                  <a:schemeClr val="tx1"/>
                </a:solidFill>
                <a:effectLst/>
                <a:latin typeface="Arial" panose="020B0604020202020204" pitchFamily="34" charset="0"/>
              </a:rPr>
              <a:t>MICE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VN" altLang="en-VN" sz="1800" b="0" i="0" u="none" strike="noStrike" cap="none" normalizeH="0" baseline="0" dirty="0">
                <a:ln>
                  <a:noFill/>
                </a:ln>
                <a:solidFill>
                  <a:schemeClr val="tx1"/>
                </a:solidFill>
                <a:effectLst/>
                <a:latin typeface="Arial" panose="020B0604020202020204" pitchFamily="34" charset="0"/>
              </a:rPr>
              <a:t>Private Events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VN" altLang="en-VN" sz="1800" b="0" i="0" u="none" strike="noStrike" cap="none" normalizeH="0" baseline="0" dirty="0">
                <a:ln>
                  <a:noFill/>
                </a:ln>
                <a:solidFill>
                  <a:schemeClr val="tx1"/>
                </a:solidFill>
                <a:effectLst/>
                <a:latin typeface="Arial" panose="020B0604020202020204" pitchFamily="34" charset="0"/>
              </a:rPr>
              <a:t>Corporate Events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VN" altLang="en-VN" sz="1800" b="0" i="0" u="none" strike="noStrike" cap="none" normalizeH="0" baseline="0" dirty="0">
                <a:ln>
                  <a:noFill/>
                </a:ln>
                <a:solidFill>
                  <a:schemeClr val="tx1"/>
                </a:solidFill>
                <a:effectLst/>
                <a:latin typeface="Arial" panose="020B0604020202020204" pitchFamily="34" charset="0"/>
              </a:rPr>
              <a:t>Mega Festivals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VN" altLang="en-VN" sz="1800" b="0" i="0" u="none" strike="noStrike" cap="none" normalizeH="0" baseline="0" dirty="0">
                <a:ln>
                  <a:noFill/>
                </a:ln>
                <a:solidFill>
                  <a:schemeClr val="tx1"/>
                </a:solidFill>
                <a:effectLst/>
                <a:latin typeface="Arial" panose="020B0604020202020204" pitchFamily="34" charset="0"/>
              </a:rPr>
              <a:t>Brand Activation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VN" altLang="en-VN" sz="1800" b="0" i="0" u="none" strike="noStrike" cap="none" normalizeH="0" baseline="0" dirty="0">
                <a:ln>
                  <a:noFill/>
                </a:ln>
                <a:solidFill>
                  <a:schemeClr val="tx1"/>
                </a:solidFill>
                <a:effectLst/>
                <a:latin typeface="Arial" panose="020B0604020202020204" pitchFamily="34" charset="0"/>
              </a:rPr>
              <a:t>In-house Production</a:t>
            </a:r>
          </a:p>
        </p:txBody>
      </p:sp>
    </p:spTree>
    <p:extLst>
      <p:ext uri="{BB962C8B-B14F-4D97-AF65-F5344CB8AC3E}">
        <p14:creationId xmlns:p14="http://schemas.microsoft.com/office/powerpoint/2010/main" val="2285232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6AE3E0-C8D6-A3D9-D53A-7330F709D28D}"/>
              </a:ext>
            </a:extLst>
          </p:cNvPr>
          <p:cNvPicPr>
            <a:picLocks noChangeAspect="1"/>
          </p:cNvPicPr>
          <p:nvPr/>
        </p:nvPicPr>
        <p:blipFill>
          <a:blip r:embed="rId2"/>
          <a:stretch>
            <a:fillRect/>
          </a:stretch>
        </p:blipFill>
        <p:spPr>
          <a:xfrm>
            <a:off x="310662" y="1249349"/>
            <a:ext cx="5673288" cy="3181974"/>
          </a:xfrm>
          <a:prstGeom prst="rect">
            <a:avLst/>
          </a:prstGeom>
        </p:spPr>
      </p:pic>
      <p:sp>
        <p:nvSpPr>
          <p:cNvPr id="6" name="TextBox 5">
            <a:extLst>
              <a:ext uri="{FF2B5EF4-FFF2-40B4-BE49-F238E27FC236}">
                <a16:creationId xmlns:a16="http://schemas.microsoft.com/office/drawing/2014/main" id="{68CDE0E5-BC8D-A1D7-A820-E1D588BFA6A5}"/>
              </a:ext>
            </a:extLst>
          </p:cNvPr>
          <p:cNvSpPr txBox="1"/>
          <p:nvPr/>
        </p:nvSpPr>
        <p:spPr>
          <a:xfrm>
            <a:off x="6616505" y="1149758"/>
            <a:ext cx="5036234" cy="3970318"/>
          </a:xfrm>
          <a:prstGeom prst="rect">
            <a:avLst/>
          </a:prstGeom>
          <a:noFill/>
        </p:spPr>
        <p:txBody>
          <a:bodyPr wrap="square">
            <a:spAutoFit/>
          </a:bodyPr>
          <a:lstStyle/>
          <a:p>
            <a:pPr>
              <a:buNone/>
            </a:pPr>
            <a:r>
              <a:rPr lang="en-US" b="1" dirty="0"/>
              <a:t>Event Launch Services That Create Impact</a:t>
            </a:r>
          </a:p>
          <a:p>
            <a:pPr>
              <a:buNone/>
            </a:pPr>
            <a:r>
              <a:rPr lang="en-US" dirty="0"/>
              <a:t>A successful launch event sets the tone for your brand’s future.</a:t>
            </a:r>
            <a:br>
              <a:rPr lang="en-US" dirty="0"/>
            </a:br>
            <a:r>
              <a:rPr lang="en-US" dirty="0"/>
              <a:t>At </a:t>
            </a:r>
            <a:r>
              <a:rPr lang="en-US" b="1" dirty="0"/>
              <a:t>B2Event</a:t>
            </a:r>
            <a:r>
              <a:rPr lang="en-US" dirty="0"/>
              <a:t>, we craft launch experiences that capture attention, strengthen brand positioning, and drive real market momentum. From concept development to production and guest management, every element is designed with precision and powered by storytelling.</a:t>
            </a:r>
          </a:p>
          <a:p>
            <a:pPr>
              <a:buNone/>
            </a:pPr>
            <a:r>
              <a:rPr lang="en-US" b="1" dirty="0"/>
              <a:t>Our Event Launch Capabilities</a:t>
            </a:r>
          </a:p>
          <a:p>
            <a:pPr>
              <a:buFont typeface="Arial" panose="020B0604020202020204" pitchFamily="34" charset="0"/>
              <a:buChar char="•"/>
            </a:pPr>
            <a:r>
              <a:rPr lang="en-US" dirty="0"/>
              <a:t>Product Launch Events</a:t>
            </a:r>
          </a:p>
          <a:p>
            <a:pPr>
              <a:buFont typeface="Arial" panose="020B0604020202020204" pitchFamily="34" charset="0"/>
              <a:buChar char="•"/>
            </a:pPr>
            <a:r>
              <a:rPr lang="en-US" dirty="0"/>
              <a:t>Grand Openings</a:t>
            </a:r>
          </a:p>
          <a:p>
            <a:pPr>
              <a:buFont typeface="Arial" panose="020B0604020202020204" pitchFamily="34" charset="0"/>
              <a:buChar char="•"/>
            </a:pPr>
            <a:r>
              <a:rPr lang="en-US" dirty="0"/>
              <a:t>Press &amp; Influencer Launches</a:t>
            </a:r>
          </a:p>
          <a:p>
            <a:pPr>
              <a:buFont typeface="Arial" panose="020B0604020202020204" pitchFamily="34" charset="0"/>
              <a:buChar char="•"/>
            </a:pPr>
            <a:r>
              <a:rPr lang="en-US" dirty="0"/>
              <a:t>App &amp; Platform Launches</a:t>
            </a:r>
          </a:p>
        </p:txBody>
      </p:sp>
    </p:spTree>
    <p:extLst>
      <p:ext uri="{BB962C8B-B14F-4D97-AF65-F5344CB8AC3E}">
        <p14:creationId xmlns:p14="http://schemas.microsoft.com/office/powerpoint/2010/main" val="4106576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B4B05-B080-877C-DB18-E62068F89E5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77D3FCD-C79A-2C6D-1F6C-8D51803B6488}"/>
              </a:ext>
            </a:extLst>
          </p:cNvPr>
          <p:cNvPicPr>
            <a:picLocks noChangeAspect="1"/>
          </p:cNvPicPr>
          <p:nvPr/>
        </p:nvPicPr>
        <p:blipFill>
          <a:blip r:embed="rId2"/>
          <a:stretch>
            <a:fillRect/>
          </a:stretch>
        </p:blipFill>
        <p:spPr>
          <a:xfrm>
            <a:off x="310662" y="1249349"/>
            <a:ext cx="5673288" cy="3181974"/>
          </a:xfrm>
          <a:prstGeom prst="rect">
            <a:avLst/>
          </a:prstGeom>
        </p:spPr>
      </p:pic>
      <p:sp>
        <p:nvSpPr>
          <p:cNvPr id="6" name="TextBox 5">
            <a:extLst>
              <a:ext uri="{FF2B5EF4-FFF2-40B4-BE49-F238E27FC236}">
                <a16:creationId xmlns:a16="http://schemas.microsoft.com/office/drawing/2014/main" id="{49574D49-CFC8-690C-2561-99B4D9C41A76}"/>
              </a:ext>
            </a:extLst>
          </p:cNvPr>
          <p:cNvSpPr txBox="1"/>
          <p:nvPr/>
        </p:nvSpPr>
        <p:spPr>
          <a:xfrm>
            <a:off x="6658708" y="1249349"/>
            <a:ext cx="5036234" cy="3970318"/>
          </a:xfrm>
          <a:prstGeom prst="rect">
            <a:avLst/>
          </a:prstGeom>
          <a:noFill/>
        </p:spPr>
        <p:txBody>
          <a:bodyPr wrap="square">
            <a:spAutoFit/>
          </a:bodyPr>
          <a:lstStyle/>
          <a:p>
            <a:r>
              <a:rPr lang="en-US" b="1" dirty="0"/>
              <a:t>Professional Conference &amp; Seminar Management</a:t>
            </a:r>
          </a:p>
          <a:p>
            <a:r>
              <a:rPr lang="en-US" dirty="0"/>
              <a:t>We design conferences and seminars where ideas connect, leaders engage, and industries evolve.</a:t>
            </a:r>
            <a:br>
              <a:rPr lang="en-US" dirty="0"/>
            </a:br>
            <a:r>
              <a:rPr lang="en-US" dirty="0"/>
              <a:t>From agenda planning to speaker support and technical production, our team delivers seamless, meaningful experiences from start to finish.</a:t>
            </a:r>
          </a:p>
          <a:p>
            <a:r>
              <a:rPr lang="en-US" b="1" dirty="0"/>
              <a:t>Services Include</a:t>
            </a:r>
          </a:p>
          <a:p>
            <a:r>
              <a:rPr lang="en-US" dirty="0"/>
              <a:t>Business Conferences</a:t>
            </a:r>
          </a:p>
          <a:p>
            <a:r>
              <a:rPr lang="en-US" dirty="0"/>
              <a:t>Sector &amp; Industry Seminars</a:t>
            </a:r>
          </a:p>
          <a:p>
            <a:r>
              <a:rPr lang="en-US" dirty="0"/>
              <a:t>Leadership Forums</a:t>
            </a:r>
          </a:p>
          <a:p>
            <a:r>
              <a:rPr lang="en-US" dirty="0"/>
              <a:t>Professional Workshops</a:t>
            </a:r>
          </a:p>
        </p:txBody>
      </p:sp>
    </p:spTree>
    <p:extLst>
      <p:ext uri="{BB962C8B-B14F-4D97-AF65-F5344CB8AC3E}">
        <p14:creationId xmlns:p14="http://schemas.microsoft.com/office/powerpoint/2010/main" val="3920459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8E342-1445-441F-6E0E-373BC35BE0B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5393571-ED35-A15B-BB9D-5D0AD224B5BC}"/>
              </a:ext>
            </a:extLst>
          </p:cNvPr>
          <p:cNvPicPr>
            <a:picLocks noChangeAspect="1"/>
          </p:cNvPicPr>
          <p:nvPr/>
        </p:nvPicPr>
        <p:blipFill>
          <a:blip r:embed="rId3"/>
          <a:stretch>
            <a:fillRect/>
          </a:stretch>
        </p:blipFill>
        <p:spPr>
          <a:xfrm>
            <a:off x="310662" y="1249349"/>
            <a:ext cx="5673288" cy="3181974"/>
          </a:xfrm>
          <a:prstGeom prst="rect">
            <a:avLst/>
          </a:prstGeom>
        </p:spPr>
      </p:pic>
      <p:sp>
        <p:nvSpPr>
          <p:cNvPr id="6" name="TextBox 5">
            <a:extLst>
              <a:ext uri="{FF2B5EF4-FFF2-40B4-BE49-F238E27FC236}">
                <a16:creationId xmlns:a16="http://schemas.microsoft.com/office/drawing/2014/main" id="{3EE38EFC-D472-A73C-3F2B-D336D291FE98}"/>
              </a:ext>
            </a:extLst>
          </p:cNvPr>
          <p:cNvSpPr txBox="1"/>
          <p:nvPr/>
        </p:nvSpPr>
        <p:spPr>
          <a:xfrm>
            <a:off x="6616505" y="1149758"/>
            <a:ext cx="5036234" cy="3693319"/>
          </a:xfrm>
          <a:prstGeom prst="rect">
            <a:avLst/>
          </a:prstGeom>
          <a:noFill/>
        </p:spPr>
        <p:txBody>
          <a:bodyPr wrap="square">
            <a:spAutoFit/>
          </a:bodyPr>
          <a:lstStyle/>
          <a:p>
            <a:r>
              <a:rPr lang="en-US" b="1" dirty="0"/>
              <a:t>MICE Solutions for Global Business Growth</a:t>
            </a:r>
          </a:p>
          <a:p>
            <a:r>
              <a:rPr lang="en-US" dirty="0"/>
              <a:t>We deliver end-to-end MICE solutions through strategic planning, premium hospitality, and world-class execution.</a:t>
            </a:r>
            <a:br>
              <a:rPr lang="en-US" dirty="0"/>
            </a:br>
            <a:r>
              <a:rPr lang="en-US" dirty="0"/>
              <a:t>Backed by strong global networks and deep expertise, we create seamless corporate journeys and meaningful international engagement.</a:t>
            </a:r>
          </a:p>
          <a:p>
            <a:r>
              <a:rPr lang="en-US" b="1" dirty="0"/>
              <a:t>MICE Services</a:t>
            </a:r>
          </a:p>
          <a:p>
            <a:r>
              <a:rPr lang="en-US" dirty="0"/>
              <a:t>Incentive Trips</a:t>
            </a:r>
          </a:p>
          <a:p>
            <a:r>
              <a:rPr lang="en-US" dirty="0"/>
              <a:t>Corporate Meetings</a:t>
            </a:r>
          </a:p>
          <a:p>
            <a:r>
              <a:rPr lang="en-US" dirty="0"/>
              <a:t>International Conventions &amp; Exhibitions</a:t>
            </a:r>
          </a:p>
          <a:p>
            <a:r>
              <a:rPr lang="en-US" dirty="0"/>
              <a:t>Business Delegation Management</a:t>
            </a:r>
          </a:p>
        </p:txBody>
      </p:sp>
    </p:spTree>
    <p:extLst>
      <p:ext uri="{BB962C8B-B14F-4D97-AF65-F5344CB8AC3E}">
        <p14:creationId xmlns:p14="http://schemas.microsoft.com/office/powerpoint/2010/main" val="194748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A7D21-C68A-5711-5426-55AB6B2E74D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6732428-3D1B-DB48-5A43-E62EF5551274}"/>
              </a:ext>
            </a:extLst>
          </p:cNvPr>
          <p:cNvPicPr>
            <a:picLocks noChangeAspect="1"/>
          </p:cNvPicPr>
          <p:nvPr/>
        </p:nvPicPr>
        <p:blipFill>
          <a:blip r:embed="rId2"/>
          <a:stretch>
            <a:fillRect/>
          </a:stretch>
        </p:blipFill>
        <p:spPr>
          <a:xfrm>
            <a:off x="310662" y="1249349"/>
            <a:ext cx="5673288" cy="3181974"/>
          </a:xfrm>
          <a:prstGeom prst="rect">
            <a:avLst/>
          </a:prstGeom>
        </p:spPr>
      </p:pic>
      <p:sp>
        <p:nvSpPr>
          <p:cNvPr id="6" name="TextBox 5">
            <a:extLst>
              <a:ext uri="{FF2B5EF4-FFF2-40B4-BE49-F238E27FC236}">
                <a16:creationId xmlns:a16="http://schemas.microsoft.com/office/drawing/2014/main" id="{88E52B83-8ECE-92DD-E0D2-8EC75C0BC76D}"/>
              </a:ext>
            </a:extLst>
          </p:cNvPr>
          <p:cNvSpPr txBox="1"/>
          <p:nvPr/>
        </p:nvSpPr>
        <p:spPr>
          <a:xfrm>
            <a:off x="6616505" y="1149758"/>
            <a:ext cx="5036234" cy="3139321"/>
          </a:xfrm>
          <a:prstGeom prst="rect">
            <a:avLst/>
          </a:prstGeom>
          <a:noFill/>
        </p:spPr>
        <p:txBody>
          <a:bodyPr wrap="square">
            <a:spAutoFit/>
          </a:bodyPr>
          <a:lstStyle/>
          <a:p>
            <a:r>
              <a:rPr lang="en-US" b="1" dirty="0"/>
              <a:t>Private Events with Distinctive Experiences</a:t>
            </a:r>
          </a:p>
          <a:p>
            <a:r>
              <a:rPr lang="en-US" dirty="0"/>
              <a:t>We curate private events that are intimate, refined, and deeply personalized.</a:t>
            </a:r>
            <a:br>
              <a:rPr lang="en-US" dirty="0"/>
            </a:br>
            <a:r>
              <a:rPr lang="en-US" dirty="0"/>
              <a:t>Every detail is thoughtfully designed to reflect your identity, elevate emotions, and create memorable moments for select audiences.</a:t>
            </a:r>
          </a:p>
          <a:p>
            <a:r>
              <a:rPr lang="en-US" b="1" dirty="0"/>
              <a:t>Private Event Services</a:t>
            </a:r>
          </a:p>
          <a:p>
            <a:r>
              <a:rPr lang="en-US" dirty="0"/>
              <a:t>VIP &amp; Invitation-Only Events</a:t>
            </a:r>
          </a:p>
          <a:p>
            <a:r>
              <a:rPr lang="en-US" dirty="0"/>
              <a:t>Private Dinners &amp; Executive Gatherings</a:t>
            </a:r>
          </a:p>
          <a:p>
            <a:r>
              <a:rPr lang="en-US" dirty="0"/>
              <a:t>Client Appreciation Events</a:t>
            </a:r>
          </a:p>
          <a:p>
            <a:r>
              <a:rPr lang="en-US" dirty="0"/>
              <a:t>Milestone &amp; Anniversary Celebrations</a:t>
            </a:r>
          </a:p>
        </p:txBody>
      </p:sp>
    </p:spTree>
    <p:extLst>
      <p:ext uri="{BB962C8B-B14F-4D97-AF65-F5344CB8AC3E}">
        <p14:creationId xmlns:p14="http://schemas.microsoft.com/office/powerpoint/2010/main" val="3930890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28645-1809-14CA-DF1C-BAD487EF70B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A541D9A-863E-D4DF-DCBF-6C7D21DA87BA}"/>
              </a:ext>
            </a:extLst>
          </p:cNvPr>
          <p:cNvPicPr>
            <a:picLocks noChangeAspect="1"/>
          </p:cNvPicPr>
          <p:nvPr/>
        </p:nvPicPr>
        <p:blipFill>
          <a:blip r:embed="rId2"/>
          <a:stretch>
            <a:fillRect/>
          </a:stretch>
        </p:blipFill>
        <p:spPr>
          <a:xfrm>
            <a:off x="310662" y="1249349"/>
            <a:ext cx="5673288" cy="3181974"/>
          </a:xfrm>
          <a:prstGeom prst="rect">
            <a:avLst/>
          </a:prstGeom>
        </p:spPr>
      </p:pic>
      <p:sp>
        <p:nvSpPr>
          <p:cNvPr id="6" name="TextBox 5">
            <a:extLst>
              <a:ext uri="{FF2B5EF4-FFF2-40B4-BE49-F238E27FC236}">
                <a16:creationId xmlns:a16="http://schemas.microsoft.com/office/drawing/2014/main" id="{CE41A68F-A47E-42C4-8DE6-0832516A9554}"/>
              </a:ext>
            </a:extLst>
          </p:cNvPr>
          <p:cNvSpPr txBox="1"/>
          <p:nvPr/>
        </p:nvSpPr>
        <p:spPr>
          <a:xfrm>
            <a:off x="6616505" y="1149758"/>
            <a:ext cx="5036234" cy="3416320"/>
          </a:xfrm>
          <a:prstGeom prst="rect">
            <a:avLst/>
          </a:prstGeom>
          <a:noFill/>
        </p:spPr>
        <p:txBody>
          <a:bodyPr wrap="square">
            <a:spAutoFit/>
          </a:bodyPr>
          <a:lstStyle/>
          <a:p>
            <a:r>
              <a:rPr lang="en-US" b="1" dirty="0"/>
              <a:t>Corporate Events that Inspire &amp; Unite</a:t>
            </a:r>
          </a:p>
          <a:p>
            <a:r>
              <a:rPr lang="en-US" dirty="0"/>
              <a:t>We design corporate events that strengthen culture, align teams, and communicate strategic vision.</a:t>
            </a:r>
            <a:br>
              <a:rPr lang="en-US" dirty="0"/>
            </a:br>
            <a:r>
              <a:rPr lang="en-US" dirty="0"/>
              <a:t>From internal milestones to large-scale company moments, we turn business objectives into engaging shared experiences.</a:t>
            </a:r>
          </a:p>
          <a:p>
            <a:r>
              <a:rPr lang="en-US" b="1" dirty="0"/>
              <a:t>Corporate Event Services</a:t>
            </a:r>
          </a:p>
          <a:p>
            <a:r>
              <a:rPr lang="en-US" dirty="0"/>
              <a:t>Annual Meetings &amp; Town Halls</a:t>
            </a:r>
          </a:p>
          <a:p>
            <a:r>
              <a:rPr lang="en-US" dirty="0"/>
              <a:t>Kick-off &amp; Internal Conferences</a:t>
            </a:r>
          </a:p>
          <a:p>
            <a:r>
              <a:rPr lang="en-US" dirty="0"/>
              <a:t>Year-End Parties &amp; Celebrations</a:t>
            </a:r>
          </a:p>
          <a:p>
            <a:r>
              <a:rPr lang="en-US" dirty="0"/>
              <a:t>Company Anniversaries</a:t>
            </a:r>
          </a:p>
        </p:txBody>
      </p:sp>
    </p:spTree>
    <p:extLst>
      <p:ext uri="{BB962C8B-B14F-4D97-AF65-F5344CB8AC3E}">
        <p14:creationId xmlns:p14="http://schemas.microsoft.com/office/powerpoint/2010/main" val="1329210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500EA-856D-2415-E87B-A7E356A4902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AA14E91-4205-0FF7-8990-DA1FB61A3F17}"/>
              </a:ext>
            </a:extLst>
          </p:cNvPr>
          <p:cNvPicPr>
            <a:picLocks noChangeAspect="1"/>
          </p:cNvPicPr>
          <p:nvPr/>
        </p:nvPicPr>
        <p:blipFill>
          <a:blip r:embed="rId2"/>
          <a:stretch>
            <a:fillRect/>
          </a:stretch>
        </p:blipFill>
        <p:spPr>
          <a:xfrm>
            <a:off x="310662" y="1249349"/>
            <a:ext cx="5673288" cy="3181974"/>
          </a:xfrm>
          <a:prstGeom prst="rect">
            <a:avLst/>
          </a:prstGeom>
        </p:spPr>
      </p:pic>
      <p:sp>
        <p:nvSpPr>
          <p:cNvPr id="6" name="TextBox 5">
            <a:extLst>
              <a:ext uri="{FF2B5EF4-FFF2-40B4-BE49-F238E27FC236}">
                <a16:creationId xmlns:a16="http://schemas.microsoft.com/office/drawing/2014/main" id="{0FC649AC-31EB-C5F5-D155-2E887123F34F}"/>
              </a:ext>
            </a:extLst>
          </p:cNvPr>
          <p:cNvSpPr txBox="1"/>
          <p:nvPr/>
        </p:nvSpPr>
        <p:spPr>
          <a:xfrm>
            <a:off x="6616505" y="1149758"/>
            <a:ext cx="5036234" cy="3416320"/>
          </a:xfrm>
          <a:prstGeom prst="rect">
            <a:avLst/>
          </a:prstGeom>
          <a:noFill/>
        </p:spPr>
        <p:txBody>
          <a:bodyPr wrap="square">
            <a:spAutoFit/>
          </a:bodyPr>
          <a:lstStyle/>
          <a:p>
            <a:r>
              <a:rPr lang="en-US" b="1" dirty="0"/>
              <a:t>Brand Activation that Drives Engagement</a:t>
            </a:r>
          </a:p>
          <a:p>
            <a:r>
              <a:rPr lang="en-US" dirty="0"/>
              <a:t>We create immersive brand activations that connect brands with people through interaction, emotion, and experience.</a:t>
            </a:r>
            <a:br>
              <a:rPr lang="en-US" dirty="0"/>
            </a:br>
            <a:r>
              <a:rPr lang="en-US" dirty="0"/>
              <a:t>Our activations are designed to spark curiosity, encourage participation, and leave lasting brand impressions.</a:t>
            </a:r>
          </a:p>
          <a:p>
            <a:r>
              <a:rPr lang="en-US" b="1" dirty="0"/>
              <a:t>Brand Activation Services</a:t>
            </a:r>
          </a:p>
          <a:p>
            <a:r>
              <a:rPr lang="en-US" dirty="0"/>
              <a:t>Experiential Marketing Campaigns</a:t>
            </a:r>
          </a:p>
          <a:p>
            <a:r>
              <a:rPr lang="en-US" dirty="0"/>
              <a:t>Pop-up Experiences &amp; Interactive Booths</a:t>
            </a:r>
          </a:p>
          <a:p>
            <a:r>
              <a:rPr lang="en-US" dirty="0"/>
              <a:t>Roadshows &amp; On-ground Activations</a:t>
            </a:r>
          </a:p>
          <a:p>
            <a:r>
              <a:rPr lang="en-US" dirty="0"/>
              <a:t>Sampling &amp; Consumer Engagement Programs</a:t>
            </a:r>
          </a:p>
        </p:txBody>
      </p:sp>
    </p:spTree>
    <p:extLst>
      <p:ext uri="{BB962C8B-B14F-4D97-AF65-F5344CB8AC3E}">
        <p14:creationId xmlns:p14="http://schemas.microsoft.com/office/powerpoint/2010/main" val="3529757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6FF42-13AC-AB4E-ADB1-8431B1E3176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BFA70E3-F60F-43CA-F209-4862863B7F6D}"/>
              </a:ext>
            </a:extLst>
          </p:cNvPr>
          <p:cNvPicPr>
            <a:picLocks noChangeAspect="1"/>
          </p:cNvPicPr>
          <p:nvPr/>
        </p:nvPicPr>
        <p:blipFill>
          <a:blip r:embed="rId2"/>
          <a:stretch>
            <a:fillRect/>
          </a:stretch>
        </p:blipFill>
        <p:spPr>
          <a:xfrm>
            <a:off x="310662" y="1249349"/>
            <a:ext cx="5673288" cy="3181974"/>
          </a:xfrm>
          <a:prstGeom prst="rect">
            <a:avLst/>
          </a:prstGeom>
        </p:spPr>
      </p:pic>
      <p:sp>
        <p:nvSpPr>
          <p:cNvPr id="6" name="TextBox 5">
            <a:extLst>
              <a:ext uri="{FF2B5EF4-FFF2-40B4-BE49-F238E27FC236}">
                <a16:creationId xmlns:a16="http://schemas.microsoft.com/office/drawing/2014/main" id="{03D8A221-4A79-A226-D963-A504865DC2F8}"/>
              </a:ext>
            </a:extLst>
          </p:cNvPr>
          <p:cNvSpPr txBox="1"/>
          <p:nvPr/>
        </p:nvSpPr>
        <p:spPr>
          <a:xfrm>
            <a:off x="6616505" y="1149758"/>
            <a:ext cx="5036234" cy="3416320"/>
          </a:xfrm>
          <a:prstGeom prst="rect">
            <a:avLst/>
          </a:prstGeom>
          <a:noFill/>
        </p:spPr>
        <p:txBody>
          <a:bodyPr wrap="square">
            <a:spAutoFit/>
          </a:bodyPr>
          <a:lstStyle/>
          <a:p>
            <a:r>
              <a:rPr lang="en-US" b="1" dirty="0"/>
              <a:t>Mega Festivals &amp; Large-Scale Public Events</a:t>
            </a:r>
          </a:p>
          <a:p>
            <a:r>
              <a:rPr lang="en-US" dirty="0"/>
              <a:t>We produce large-scale festivals that celebrate culture, entertainment, and community.</a:t>
            </a:r>
            <a:br>
              <a:rPr lang="en-US" dirty="0"/>
            </a:br>
            <a:r>
              <a:rPr lang="en-US" dirty="0"/>
              <a:t>With strong creative direction and operational excellence, we deliver high-impact events that captivate massive audiences and generate wide media reach.</a:t>
            </a:r>
          </a:p>
          <a:p>
            <a:r>
              <a:rPr lang="en-US" b="1" dirty="0"/>
              <a:t>Mega Festival Services</a:t>
            </a:r>
          </a:p>
          <a:p>
            <a:r>
              <a:rPr lang="en-US" dirty="0"/>
              <a:t>Music &amp; Entertainment Festivals</a:t>
            </a:r>
          </a:p>
          <a:p>
            <a:r>
              <a:rPr lang="en-US" dirty="0"/>
              <a:t>Cultural &amp; Community Events</a:t>
            </a:r>
          </a:p>
          <a:p>
            <a:r>
              <a:rPr lang="en-US" dirty="0"/>
              <a:t>City-wide Celebrations &amp; Countdown Events</a:t>
            </a:r>
          </a:p>
          <a:p>
            <a:r>
              <a:rPr lang="en-US" dirty="0"/>
              <a:t>Public Brand Festivals</a:t>
            </a:r>
          </a:p>
        </p:txBody>
      </p:sp>
    </p:spTree>
    <p:extLst>
      <p:ext uri="{BB962C8B-B14F-4D97-AF65-F5344CB8AC3E}">
        <p14:creationId xmlns:p14="http://schemas.microsoft.com/office/powerpoint/2010/main" val="3214938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03C78-0E29-5BAD-ED99-B483C9B21A0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53A9C2A-8700-9F3D-1D57-037D45238A4E}"/>
              </a:ext>
            </a:extLst>
          </p:cNvPr>
          <p:cNvPicPr>
            <a:picLocks noChangeAspect="1"/>
          </p:cNvPicPr>
          <p:nvPr/>
        </p:nvPicPr>
        <p:blipFill>
          <a:blip r:embed="rId2"/>
          <a:stretch>
            <a:fillRect/>
          </a:stretch>
        </p:blipFill>
        <p:spPr>
          <a:xfrm>
            <a:off x="310662" y="1249349"/>
            <a:ext cx="5673288" cy="3181974"/>
          </a:xfrm>
          <a:prstGeom prst="rect">
            <a:avLst/>
          </a:prstGeom>
        </p:spPr>
      </p:pic>
      <p:sp>
        <p:nvSpPr>
          <p:cNvPr id="6" name="TextBox 5">
            <a:extLst>
              <a:ext uri="{FF2B5EF4-FFF2-40B4-BE49-F238E27FC236}">
                <a16:creationId xmlns:a16="http://schemas.microsoft.com/office/drawing/2014/main" id="{99DA625D-596E-B834-1C32-B24F2E8091EC}"/>
              </a:ext>
            </a:extLst>
          </p:cNvPr>
          <p:cNvSpPr txBox="1"/>
          <p:nvPr/>
        </p:nvSpPr>
        <p:spPr>
          <a:xfrm>
            <a:off x="6616505" y="1149758"/>
            <a:ext cx="5036234" cy="3416320"/>
          </a:xfrm>
          <a:prstGeom prst="rect">
            <a:avLst/>
          </a:prstGeom>
          <a:noFill/>
        </p:spPr>
        <p:txBody>
          <a:bodyPr wrap="square">
            <a:spAutoFit/>
          </a:bodyPr>
          <a:lstStyle/>
          <a:p>
            <a:r>
              <a:rPr lang="en-US" b="1" dirty="0"/>
              <a:t>In-house Production &amp; Technical Excellence</a:t>
            </a:r>
          </a:p>
          <a:p>
            <a:r>
              <a:rPr lang="en-US" dirty="0"/>
              <a:t>With in-house production capabilities, we maintain full control over quality, creativity, and execution.</a:t>
            </a:r>
            <a:br>
              <a:rPr lang="en-US" dirty="0"/>
            </a:br>
            <a:r>
              <a:rPr lang="en-US" dirty="0"/>
              <a:t>From concept to on-site delivery, every technical element is seamlessly integrated to bring ideas to life.</a:t>
            </a:r>
          </a:p>
          <a:p>
            <a:r>
              <a:rPr lang="en-US" b="1" dirty="0"/>
              <a:t>In-house Production Services</a:t>
            </a:r>
          </a:p>
          <a:p>
            <a:r>
              <a:rPr lang="en-US" dirty="0"/>
              <a:t>Creative Concept &amp; Show Direction</a:t>
            </a:r>
          </a:p>
          <a:p>
            <a:r>
              <a:rPr lang="en-US" dirty="0"/>
              <a:t>Stage Design &amp; 3D Visuals</a:t>
            </a:r>
          </a:p>
          <a:p>
            <a:r>
              <a:rPr lang="en-US" dirty="0"/>
              <a:t>Technical Production &amp; Event Operations</a:t>
            </a:r>
          </a:p>
          <a:p>
            <a:r>
              <a:rPr lang="en-US" dirty="0"/>
              <a:t>Content, Visual &amp; Multimedia Production</a:t>
            </a:r>
          </a:p>
        </p:txBody>
      </p:sp>
    </p:spTree>
    <p:extLst>
      <p:ext uri="{BB962C8B-B14F-4D97-AF65-F5344CB8AC3E}">
        <p14:creationId xmlns:p14="http://schemas.microsoft.com/office/powerpoint/2010/main" val="3014074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69697-4B69-2028-61D1-32BE4539468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0C32036-BE5C-3537-CB1F-41F0E0F8BDB5}"/>
              </a:ext>
            </a:extLst>
          </p:cNvPr>
          <p:cNvPicPr>
            <a:picLocks noChangeAspect="1"/>
          </p:cNvPicPr>
          <p:nvPr/>
        </p:nvPicPr>
        <p:blipFill>
          <a:blip r:embed="rId3"/>
          <a:stretch>
            <a:fillRect/>
          </a:stretch>
        </p:blipFill>
        <p:spPr>
          <a:xfrm>
            <a:off x="310662" y="1249349"/>
            <a:ext cx="5673288" cy="3181974"/>
          </a:xfrm>
          <a:prstGeom prst="rect">
            <a:avLst/>
          </a:prstGeom>
        </p:spPr>
      </p:pic>
      <p:sp>
        <p:nvSpPr>
          <p:cNvPr id="3" name="TextBox 2">
            <a:extLst>
              <a:ext uri="{FF2B5EF4-FFF2-40B4-BE49-F238E27FC236}">
                <a16:creationId xmlns:a16="http://schemas.microsoft.com/office/drawing/2014/main" id="{38DC13AF-13E7-BD4B-05A8-82B5B4CC0988}"/>
              </a:ext>
            </a:extLst>
          </p:cNvPr>
          <p:cNvSpPr txBox="1"/>
          <p:nvPr/>
        </p:nvSpPr>
        <p:spPr>
          <a:xfrm>
            <a:off x="6096000" y="1249349"/>
            <a:ext cx="6098344" cy="1477328"/>
          </a:xfrm>
          <a:prstGeom prst="rect">
            <a:avLst/>
          </a:prstGeom>
          <a:noFill/>
        </p:spPr>
        <p:txBody>
          <a:bodyPr wrap="square">
            <a:spAutoFit/>
          </a:bodyPr>
          <a:lstStyle/>
          <a:p>
            <a:pPr>
              <a:buNone/>
            </a:pPr>
            <a:r>
              <a:rPr lang="en-US" b="1" dirty="0"/>
              <a:t>We are constantly seeking promising candidates to nurture and support their professional growth.</a:t>
            </a:r>
            <a:br>
              <a:rPr lang="en-US" dirty="0"/>
            </a:br>
            <a:r>
              <a:rPr lang="en-US" dirty="0"/>
              <a:t>At B2Event, every talent is given the space, guidance, and mentorship needed to grow, advance, and thrive in their career.</a:t>
            </a:r>
          </a:p>
        </p:txBody>
      </p:sp>
      <p:sp>
        <p:nvSpPr>
          <p:cNvPr id="5" name="TextBox 4">
            <a:extLst>
              <a:ext uri="{FF2B5EF4-FFF2-40B4-BE49-F238E27FC236}">
                <a16:creationId xmlns:a16="http://schemas.microsoft.com/office/drawing/2014/main" id="{826FCD10-A8B2-9F25-A4F5-1E43CC3D9B72}"/>
              </a:ext>
            </a:extLst>
          </p:cNvPr>
          <p:cNvSpPr txBox="1"/>
          <p:nvPr/>
        </p:nvSpPr>
        <p:spPr>
          <a:xfrm>
            <a:off x="717452" y="422031"/>
            <a:ext cx="3305908" cy="369332"/>
          </a:xfrm>
          <a:prstGeom prst="rect">
            <a:avLst/>
          </a:prstGeom>
          <a:noFill/>
        </p:spPr>
        <p:txBody>
          <a:bodyPr wrap="square" rtlCol="0">
            <a:spAutoFit/>
          </a:bodyPr>
          <a:lstStyle/>
          <a:p>
            <a:r>
              <a:rPr lang="en-VN" dirty="0"/>
              <a:t>CAREERS</a:t>
            </a:r>
          </a:p>
        </p:txBody>
      </p:sp>
    </p:spTree>
    <p:extLst>
      <p:ext uri="{BB962C8B-B14F-4D97-AF65-F5344CB8AC3E}">
        <p14:creationId xmlns:p14="http://schemas.microsoft.com/office/powerpoint/2010/main" val="3093770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BC9502A-F7DA-7991-9D2A-1448D1DE7519}"/>
              </a:ext>
            </a:extLst>
          </p:cNvPr>
          <p:cNvSpPr txBox="1"/>
          <p:nvPr/>
        </p:nvSpPr>
        <p:spPr>
          <a:xfrm>
            <a:off x="6208052" y="1451541"/>
            <a:ext cx="5316904" cy="923330"/>
          </a:xfrm>
          <a:prstGeom prst="rect">
            <a:avLst/>
          </a:prstGeom>
          <a:noFill/>
        </p:spPr>
        <p:txBody>
          <a:bodyPr wrap="square">
            <a:spAutoFit/>
          </a:bodyPr>
          <a:lstStyle/>
          <a:p>
            <a:r>
              <a:rPr lang="en-US" b="1" dirty="0"/>
              <a:t>Every episode is crafted with fresh voices, bold perspectives, and stories that truly move people.</a:t>
            </a:r>
            <a:br>
              <a:rPr lang="en-US" dirty="0"/>
            </a:br>
            <a:r>
              <a:rPr lang="en-US" dirty="0"/>
              <a:t>We don’t recycle ideas. We reimagine them.</a:t>
            </a:r>
            <a:endParaRPr lang="en-VN" dirty="0"/>
          </a:p>
        </p:txBody>
      </p:sp>
      <p:pic>
        <p:nvPicPr>
          <p:cNvPr id="6" name="Picture 5">
            <a:extLst>
              <a:ext uri="{FF2B5EF4-FFF2-40B4-BE49-F238E27FC236}">
                <a16:creationId xmlns:a16="http://schemas.microsoft.com/office/drawing/2014/main" id="{2DE95114-57F8-DC6D-F349-28F2A3FB989A}"/>
              </a:ext>
            </a:extLst>
          </p:cNvPr>
          <p:cNvPicPr>
            <a:picLocks noChangeAspect="1"/>
          </p:cNvPicPr>
          <p:nvPr/>
        </p:nvPicPr>
        <p:blipFill>
          <a:blip r:embed="rId2"/>
          <a:stretch>
            <a:fillRect/>
          </a:stretch>
        </p:blipFill>
        <p:spPr>
          <a:xfrm>
            <a:off x="310662" y="1249349"/>
            <a:ext cx="5673288" cy="3181974"/>
          </a:xfrm>
          <a:prstGeom prst="rect">
            <a:avLst/>
          </a:prstGeom>
        </p:spPr>
      </p:pic>
    </p:spTree>
    <p:extLst>
      <p:ext uri="{BB962C8B-B14F-4D97-AF65-F5344CB8AC3E}">
        <p14:creationId xmlns:p14="http://schemas.microsoft.com/office/powerpoint/2010/main" val="16609319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2939</TotalTime>
  <Words>839</Words>
  <Application>Microsoft Macintosh PowerPoint</Application>
  <PresentationFormat>Widescreen</PresentationFormat>
  <Paragraphs>106</Paragraphs>
  <Slides>20</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Equip</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B2Event Tường Vi</dc:creator>
  <cp:lastModifiedBy>B2Event Tường Vi</cp:lastModifiedBy>
  <cp:revision>1</cp:revision>
  <dcterms:created xsi:type="dcterms:W3CDTF">2026-01-16T16:44:06Z</dcterms:created>
  <dcterms:modified xsi:type="dcterms:W3CDTF">2026-01-19T04:21:56Z</dcterms:modified>
</cp:coreProperties>
</file>